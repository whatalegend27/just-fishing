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Lst>
  <p:sldSz cy="5143500" cx="9144000"/>
  <p:notesSz cx="6858000" cy="9144000"/>
  <p:embeddedFontLst>
    <p:embeddedFont>
      <p:font typeface="Montserrat"/>
      <p:regular r:id="rId46"/>
      <p:bold r:id="rId47"/>
      <p:italic r:id="rId48"/>
      <p:boldItalic r:id="rId49"/>
    </p:embeddedFont>
    <p:embeddedFont>
      <p:font typeface="Lato"/>
      <p:regular r:id="rId50"/>
      <p:bold r:id="rId51"/>
      <p:italic r:id="rId52"/>
      <p:boldItalic r:id="rId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font" Target="fonts/Montserrat-regular.fntdata"/><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Montserrat-italic.fntdata"/><Relationship Id="rId47" Type="http://schemas.openxmlformats.org/officeDocument/2006/relationships/font" Target="fonts/Montserrat-bold.fntdata"/><Relationship Id="rId49" Type="http://schemas.openxmlformats.org/officeDocument/2006/relationships/font" Target="fonts/Montserrat-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Lato-bold.fntdata"/><Relationship Id="rId50" Type="http://schemas.openxmlformats.org/officeDocument/2006/relationships/font" Target="fonts/Lato-regular.fntdata"/><Relationship Id="rId53" Type="http://schemas.openxmlformats.org/officeDocument/2006/relationships/font" Target="fonts/Lato-boldItalic.fntdata"/><Relationship Id="rId52" Type="http://schemas.openxmlformats.org/officeDocument/2006/relationships/font" Target="fonts/Lato-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ce08e2acd3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ce08e2acd3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ce08e2acd3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ce08e2acd3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ce08e2acd3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ce08e2acd3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ce08e2acd3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ce08e2acd3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ce08e2acd3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ce08e2acd3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ce08e2acd3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ce08e2acd3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ce08e2acd3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ce08e2acd3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ce08e2acd3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ce08e2acd3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ce08e2acd3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ce08e2acd3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ce08e2acd3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ce08e2acd3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ce628c28b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ce628c28b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ce628c28b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ce628c28b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ce628c28b1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ce628c28b1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ce628c28b1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ce628c28b1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ce628c28b1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ce628c28b1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ce628c28b1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ce628c28b1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ce628c28b1_4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ce628c28b1_4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ce628c28b1_4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ce628c28b1_4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ce628c28b1_4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ce628c28b1_4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ce628c28b1_4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ce628c28b1_4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ce628c28b1_4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ce628c28b1_4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ce628c28b1_4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ce628c28b1_4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ce628c28b1_17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ce628c28b1_17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ce628c28b1_17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3ce628c28b1_17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ce628c28b1_4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3ce628c28b1_4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ce628c28b1_18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3ce628c28b1_18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ce628c28b1_4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3ce628c28b1_4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ce628c28b1_6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3ce628c28b1_6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ce628c28b1_4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3ce628c28b1_4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ce628c28b1_4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3ce628c28b1_4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ce628c28b1_4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3ce628c28b1_4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ce628c28b1_4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ce628c28b1_4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ce628c28b1_4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3ce628c28b1_4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ce628c28b1_4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3ce628c28b1_4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ce628c28b1_4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3ce628c28b1_4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ce628c28b1_4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ce628c28b1_4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ce628c28b1_4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3ce628c28b1_4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3ce628c28b1_4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3ce628c28b1_4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3ce628c28b1_4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3ce628c28b1_4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8.png"/><Relationship Id="rId4" Type="http://schemas.openxmlformats.org/officeDocument/2006/relationships/image" Target="../media/image16.png"/><Relationship Id="rId5" Type="http://schemas.openxmlformats.org/officeDocument/2006/relationships/image" Target="../media/image3.png"/><Relationship Id="rId6"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TL3 Testing Presentation</a:t>
            </a:r>
            <a:endParaRPr/>
          </a:p>
        </p:txBody>
      </p:sp>
      <p:sp>
        <p:nvSpPr>
          <p:cNvPr id="135" name="Google Shape;135;p13"/>
          <p:cNvSpPr txBox="1"/>
          <p:nvPr>
            <p:ph idx="1" type="subTitle"/>
          </p:nvPr>
        </p:nvSpPr>
        <p:spPr>
          <a:xfrm>
            <a:off x="5388750" y="3924925"/>
            <a:ext cx="3470700" cy="506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Presented by: Zach, Leo, Kade, &amp; Brandon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4"/>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What makes a good Test Plan?</a:t>
            </a:r>
            <a:endParaRPr/>
          </a:p>
        </p:txBody>
      </p:sp>
      <p:sp>
        <p:nvSpPr>
          <p:cNvPr id="141" name="Google Shape;141;p14"/>
          <p:cNvSpPr txBox="1"/>
          <p:nvPr>
            <p:ph type="title"/>
          </p:nvPr>
        </p:nvSpPr>
        <p:spPr>
          <a:xfrm>
            <a:off x="346925" y="4575650"/>
            <a:ext cx="8598000" cy="362700"/>
          </a:xfrm>
          <a:prstGeom prst="rect">
            <a:avLst/>
          </a:prstGeom>
        </p:spPr>
        <p:txBody>
          <a:bodyPr anchorCtr="0" anchor="ctr" bIns="91425" lIns="91425" spcFirstLastPara="1" rIns="91425" wrap="square" tIns="91425">
            <a:normAutofit fontScale="90000"/>
          </a:bodyPr>
          <a:lstStyle/>
          <a:p>
            <a:pPr indent="0" lvl="0" marL="0" rtl="0" algn="r">
              <a:spcBef>
                <a:spcPts val="0"/>
              </a:spcBef>
              <a:spcAft>
                <a:spcPts val="0"/>
              </a:spcAft>
              <a:buNone/>
            </a:pPr>
            <a:r>
              <a:rPr lang="en" sz="1400"/>
              <a:t>Presenter: </a:t>
            </a:r>
            <a:r>
              <a:rPr b="1" lang="en" sz="1400"/>
              <a:t>Kade McRae</a:t>
            </a:r>
            <a:endParaRPr b="1" sz="1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Clarity of Scope</a:t>
            </a:r>
            <a:endParaRPr/>
          </a:p>
        </p:txBody>
      </p:sp>
      <p:sp>
        <p:nvSpPr>
          <p:cNvPr id="147" name="Google Shape;147;p15"/>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Define everything you are/are not testing</a:t>
            </a:r>
            <a:endParaRPr/>
          </a:p>
          <a:p>
            <a:pPr indent="-311150" lvl="0" marL="457200" rtl="0" algn="l">
              <a:spcBef>
                <a:spcPts val="1200"/>
              </a:spcBef>
              <a:spcAft>
                <a:spcPts val="0"/>
              </a:spcAft>
              <a:buSzPts val="1300"/>
              <a:buChar char="●"/>
            </a:pPr>
            <a:r>
              <a:rPr lang="en"/>
              <a:t>What features are being tested?</a:t>
            </a:r>
            <a:endParaRPr/>
          </a:p>
          <a:p>
            <a:pPr indent="-311150" lvl="0" marL="457200" rtl="0" algn="l">
              <a:spcBef>
                <a:spcPts val="0"/>
              </a:spcBef>
              <a:spcAft>
                <a:spcPts val="0"/>
              </a:spcAft>
              <a:buSzPts val="1300"/>
              <a:buChar char="●"/>
            </a:pPr>
            <a:r>
              <a:rPr lang="en"/>
              <a:t>What is being explicitly tested and why?</a:t>
            </a:r>
            <a:endParaRPr/>
          </a:p>
        </p:txBody>
      </p:sp>
      <p:sp>
        <p:nvSpPr>
          <p:cNvPr id="148" name="Google Shape;148;p15"/>
          <p:cNvSpPr txBox="1"/>
          <p:nvPr>
            <p:ph type="title"/>
          </p:nvPr>
        </p:nvSpPr>
        <p:spPr>
          <a:xfrm>
            <a:off x="346925" y="4575650"/>
            <a:ext cx="8598000" cy="362700"/>
          </a:xfrm>
          <a:prstGeom prst="rect">
            <a:avLst/>
          </a:prstGeom>
        </p:spPr>
        <p:txBody>
          <a:bodyPr anchorCtr="0" anchor="t" bIns="91425" lIns="91425" spcFirstLastPara="1" rIns="91425" wrap="square" tIns="91425">
            <a:normAutofit fontScale="90000"/>
          </a:bodyPr>
          <a:lstStyle/>
          <a:p>
            <a:pPr indent="0" lvl="0" marL="0" rtl="0" algn="r">
              <a:spcBef>
                <a:spcPts val="0"/>
              </a:spcBef>
              <a:spcAft>
                <a:spcPts val="0"/>
              </a:spcAft>
              <a:buNone/>
            </a:pPr>
            <a:r>
              <a:rPr lang="en" sz="1400"/>
              <a:t>Presenter: </a:t>
            </a:r>
            <a:r>
              <a:rPr b="1" lang="en" sz="1400"/>
              <a:t>Kade McRae</a:t>
            </a:r>
            <a:endParaRPr b="1" sz="14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Clear Pass/Fail Conditions</a:t>
            </a:r>
            <a:endParaRPr/>
          </a:p>
        </p:txBody>
      </p:sp>
      <p:sp>
        <p:nvSpPr>
          <p:cNvPr id="154" name="Google Shape;154;p16"/>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How do I know a test passed?</a:t>
            </a:r>
            <a:endParaRPr/>
          </a:p>
          <a:p>
            <a:pPr indent="-311150" lvl="0" marL="457200" rtl="0" algn="l">
              <a:spcBef>
                <a:spcPts val="1200"/>
              </a:spcBef>
              <a:spcAft>
                <a:spcPts val="0"/>
              </a:spcAft>
              <a:buSzPts val="1300"/>
              <a:buChar char="●"/>
            </a:pPr>
            <a:r>
              <a:rPr lang="en"/>
              <a:t>Clear messages</a:t>
            </a:r>
            <a:endParaRPr/>
          </a:p>
          <a:p>
            <a:pPr indent="-311150" lvl="0" marL="457200" rtl="0" algn="l">
              <a:spcBef>
                <a:spcPts val="0"/>
              </a:spcBef>
              <a:spcAft>
                <a:spcPts val="0"/>
              </a:spcAft>
              <a:buSzPts val="1300"/>
              <a:buChar char="●"/>
            </a:pPr>
            <a:r>
              <a:rPr lang="en"/>
              <a:t>Specific number conditions</a:t>
            </a:r>
            <a:endParaRPr/>
          </a:p>
        </p:txBody>
      </p:sp>
      <p:sp>
        <p:nvSpPr>
          <p:cNvPr id="155" name="Google Shape;155;p16"/>
          <p:cNvSpPr txBox="1"/>
          <p:nvPr>
            <p:ph type="title"/>
          </p:nvPr>
        </p:nvSpPr>
        <p:spPr>
          <a:xfrm>
            <a:off x="346925" y="4575650"/>
            <a:ext cx="8598000" cy="362700"/>
          </a:xfrm>
          <a:prstGeom prst="rect">
            <a:avLst/>
          </a:prstGeom>
        </p:spPr>
        <p:txBody>
          <a:bodyPr anchorCtr="0" anchor="t" bIns="91425" lIns="91425" spcFirstLastPara="1" rIns="91425" wrap="square" tIns="91425">
            <a:normAutofit fontScale="90000"/>
          </a:bodyPr>
          <a:lstStyle/>
          <a:p>
            <a:pPr indent="0" lvl="0" marL="0" rtl="0" algn="r">
              <a:spcBef>
                <a:spcPts val="0"/>
              </a:spcBef>
              <a:spcAft>
                <a:spcPts val="0"/>
              </a:spcAft>
              <a:buNone/>
            </a:pPr>
            <a:r>
              <a:rPr lang="en" sz="1400"/>
              <a:t>Presenter: </a:t>
            </a:r>
            <a:r>
              <a:rPr b="1" lang="en" sz="1400"/>
              <a:t>Kade McRae</a:t>
            </a:r>
            <a:endParaRPr b="1" sz="14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7"/>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Levels of Testing</a:t>
            </a:r>
            <a:endParaRPr/>
          </a:p>
        </p:txBody>
      </p:sp>
      <p:sp>
        <p:nvSpPr>
          <p:cNvPr id="161" name="Google Shape;161;p17"/>
          <p:cNvSpPr txBox="1"/>
          <p:nvPr>
            <p:ph type="title"/>
          </p:nvPr>
        </p:nvSpPr>
        <p:spPr>
          <a:xfrm>
            <a:off x="346925" y="4575650"/>
            <a:ext cx="8598000" cy="362700"/>
          </a:xfrm>
          <a:prstGeom prst="rect">
            <a:avLst/>
          </a:prstGeom>
        </p:spPr>
        <p:txBody>
          <a:bodyPr anchorCtr="0" anchor="ctr" bIns="91425" lIns="91425" spcFirstLastPara="1" rIns="91425" wrap="square" tIns="91425">
            <a:normAutofit fontScale="90000"/>
          </a:bodyPr>
          <a:lstStyle/>
          <a:p>
            <a:pPr indent="0" lvl="0" marL="0" rtl="0" algn="r">
              <a:spcBef>
                <a:spcPts val="0"/>
              </a:spcBef>
              <a:spcAft>
                <a:spcPts val="0"/>
              </a:spcAft>
              <a:buNone/>
            </a:pPr>
            <a:r>
              <a:rPr lang="en" sz="1400"/>
              <a:t>Presenter: </a:t>
            </a:r>
            <a:r>
              <a:rPr b="1" lang="en" sz="1400"/>
              <a:t>Kade McRae</a:t>
            </a:r>
            <a:endParaRPr b="1" sz="1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Unit Testing</a:t>
            </a:r>
            <a:endParaRPr/>
          </a:p>
        </p:txBody>
      </p:sp>
      <p:sp>
        <p:nvSpPr>
          <p:cNvPr id="167" name="Google Shape;167;p18"/>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Module of component tested in isolation</a:t>
            </a:r>
            <a:endParaRPr/>
          </a:p>
        </p:txBody>
      </p:sp>
      <p:sp>
        <p:nvSpPr>
          <p:cNvPr id="168" name="Google Shape;168;p18"/>
          <p:cNvSpPr txBox="1"/>
          <p:nvPr>
            <p:ph type="title"/>
          </p:nvPr>
        </p:nvSpPr>
        <p:spPr>
          <a:xfrm>
            <a:off x="346925" y="4575650"/>
            <a:ext cx="8598000" cy="362700"/>
          </a:xfrm>
          <a:prstGeom prst="rect">
            <a:avLst/>
          </a:prstGeom>
        </p:spPr>
        <p:txBody>
          <a:bodyPr anchorCtr="0" anchor="t" bIns="91425" lIns="91425" spcFirstLastPara="1" rIns="91425" wrap="square" tIns="91425">
            <a:normAutofit fontScale="90000"/>
          </a:bodyPr>
          <a:lstStyle/>
          <a:p>
            <a:pPr indent="0" lvl="0" marL="0" rtl="0" algn="r">
              <a:spcBef>
                <a:spcPts val="0"/>
              </a:spcBef>
              <a:spcAft>
                <a:spcPts val="0"/>
              </a:spcAft>
              <a:buNone/>
            </a:pPr>
            <a:r>
              <a:rPr lang="en" sz="1400"/>
              <a:t>Presenter: </a:t>
            </a:r>
            <a:r>
              <a:rPr b="1" lang="en" sz="1400"/>
              <a:t>Kade McRae</a:t>
            </a:r>
            <a:endParaRPr b="1" sz="14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Integration Testing</a:t>
            </a:r>
            <a:endParaRPr/>
          </a:p>
        </p:txBody>
      </p:sp>
      <p:sp>
        <p:nvSpPr>
          <p:cNvPr id="174" name="Google Shape;174;p19"/>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Where we test a group of modules</a:t>
            </a:r>
            <a:endParaRPr/>
          </a:p>
          <a:p>
            <a:pPr indent="0" lvl="0" marL="0" rtl="0" algn="l">
              <a:spcBef>
                <a:spcPts val="1200"/>
              </a:spcBef>
              <a:spcAft>
                <a:spcPts val="0"/>
              </a:spcAft>
              <a:buNone/>
            </a:pPr>
            <a:r>
              <a:rPr lang="en"/>
              <a:t>Four Types of Integration Testing:</a:t>
            </a:r>
            <a:endParaRPr/>
          </a:p>
          <a:p>
            <a:pPr indent="-311150" lvl="0" marL="457200" rtl="0" algn="l">
              <a:spcBef>
                <a:spcPts val="1200"/>
              </a:spcBef>
              <a:spcAft>
                <a:spcPts val="0"/>
              </a:spcAft>
              <a:buSzPts val="1300"/>
              <a:buChar char="●"/>
            </a:pPr>
            <a:r>
              <a:rPr lang="en"/>
              <a:t>Big Bang Integration</a:t>
            </a:r>
            <a:endParaRPr/>
          </a:p>
          <a:p>
            <a:pPr indent="-298450" lvl="1" marL="914400" rtl="0" algn="l">
              <a:spcBef>
                <a:spcPts val="0"/>
              </a:spcBef>
              <a:spcAft>
                <a:spcPts val="0"/>
              </a:spcAft>
              <a:buSzPts val="1100"/>
              <a:buChar char="○"/>
            </a:pPr>
            <a:r>
              <a:rPr lang="en"/>
              <a:t>All modules required to be completed and integrated</a:t>
            </a:r>
            <a:endParaRPr/>
          </a:p>
          <a:p>
            <a:pPr indent="-311150" lvl="0" marL="457200" rtl="0" algn="l">
              <a:spcBef>
                <a:spcPts val="0"/>
              </a:spcBef>
              <a:spcAft>
                <a:spcPts val="0"/>
              </a:spcAft>
              <a:buSzPts val="1300"/>
              <a:buChar char="●"/>
            </a:pPr>
            <a:r>
              <a:rPr lang="en"/>
              <a:t>Top Down Integration</a:t>
            </a:r>
            <a:endParaRPr/>
          </a:p>
          <a:p>
            <a:pPr indent="-298450" lvl="1" marL="914400" rtl="0" algn="l">
              <a:spcBef>
                <a:spcPts val="0"/>
              </a:spcBef>
              <a:spcAft>
                <a:spcPts val="0"/>
              </a:spcAft>
              <a:buSzPts val="1100"/>
              <a:buChar char="○"/>
            </a:pPr>
            <a:r>
              <a:rPr lang="en"/>
              <a:t>Testing flow starts from top level modules in </a:t>
            </a:r>
            <a:r>
              <a:rPr lang="en"/>
              <a:t>hierarchy</a:t>
            </a:r>
            <a:endParaRPr/>
          </a:p>
          <a:p>
            <a:pPr indent="-311150" lvl="0" marL="457200" rtl="0" algn="l">
              <a:spcBef>
                <a:spcPts val="0"/>
              </a:spcBef>
              <a:spcAft>
                <a:spcPts val="0"/>
              </a:spcAft>
              <a:buSzPts val="1300"/>
              <a:buChar char="●"/>
            </a:pPr>
            <a:r>
              <a:rPr lang="en"/>
              <a:t>Bottom Up Integration</a:t>
            </a:r>
            <a:endParaRPr/>
          </a:p>
          <a:p>
            <a:pPr indent="-298450" lvl="1" marL="914400" rtl="0" algn="l">
              <a:spcBef>
                <a:spcPts val="0"/>
              </a:spcBef>
              <a:spcAft>
                <a:spcPts val="0"/>
              </a:spcAft>
              <a:buSzPts val="1100"/>
              <a:buChar char="○"/>
            </a:pPr>
            <a:r>
              <a:rPr lang="en"/>
              <a:t>Start from lower level then move up</a:t>
            </a:r>
            <a:endParaRPr/>
          </a:p>
          <a:p>
            <a:pPr indent="-311150" lvl="0" marL="457200" rtl="0" algn="l">
              <a:spcBef>
                <a:spcPts val="0"/>
              </a:spcBef>
              <a:spcAft>
                <a:spcPts val="0"/>
              </a:spcAft>
              <a:buSzPts val="1300"/>
              <a:buChar char="●"/>
            </a:pPr>
            <a:r>
              <a:rPr lang="en"/>
              <a:t>Hybrid Integration</a:t>
            </a:r>
            <a:endParaRPr/>
          </a:p>
          <a:p>
            <a:pPr indent="-298450" lvl="1" marL="914400" rtl="0" algn="l">
              <a:spcBef>
                <a:spcPts val="0"/>
              </a:spcBef>
              <a:spcAft>
                <a:spcPts val="0"/>
              </a:spcAft>
              <a:buSzPts val="1100"/>
              <a:buChar char="○"/>
            </a:pPr>
            <a:r>
              <a:rPr lang="en"/>
              <a:t>Combo of top down and bottom up starting at mid layer</a:t>
            </a:r>
            <a:endParaRPr/>
          </a:p>
        </p:txBody>
      </p:sp>
      <p:sp>
        <p:nvSpPr>
          <p:cNvPr id="175" name="Google Shape;175;p19"/>
          <p:cNvSpPr txBox="1"/>
          <p:nvPr>
            <p:ph type="title"/>
          </p:nvPr>
        </p:nvSpPr>
        <p:spPr>
          <a:xfrm>
            <a:off x="346925" y="4575650"/>
            <a:ext cx="8598000" cy="362700"/>
          </a:xfrm>
          <a:prstGeom prst="rect">
            <a:avLst/>
          </a:prstGeom>
        </p:spPr>
        <p:txBody>
          <a:bodyPr anchorCtr="0" anchor="t" bIns="91425" lIns="91425" spcFirstLastPara="1" rIns="91425" wrap="square" tIns="91425">
            <a:normAutofit fontScale="90000"/>
          </a:bodyPr>
          <a:lstStyle/>
          <a:p>
            <a:pPr indent="0" lvl="0" marL="0" rtl="0" algn="r">
              <a:spcBef>
                <a:spcPts val="0"/>
              </a:spcBef>
              <a:spcAft>
                <a:spcPts val="0"/>
              </a:spcAft>
              <a:buNone/>
            </a:pPr>
            <a:r>
              <a:rPr lang="en" sz="1400"/>
              <a:t>Presenter: </a:t>
            </a:r>
            <a:r>
              <a:rPr b="1" lang="en" sz="1400"/>
              <a:t>Kade McRae</a:t>
            </a:r>
            <a:endParaRPr b="1" sz="14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System Testing</a:t>
            </a:r>
            <a:endParaRPr/>
          </a:p>
        </p:txBody>
      </p:sp>
      <p:sp>
        <p:nvSpPr>
          <p:cNvPr id="181" name="Google Shape;181;p20"/>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Complete integrated application tested as a whole</a:t>
            </a:r>
            <a:endParaRPr/>
          </a:p>
        </p:txBody>
      </p:sp>
      <p:sp>
        <p:nvSpPr>
          <p:cNvPr id="182" name="Google Shape;182;p20"/>
          <p:cNvSpPr txBox="1"/>
          <p:nvPr>
            <p:ph type="title"/>
          </p:nvPr>
        </p:nvSpPr>
        <p:spPr>
          <a:xfrm>
            <a:off x="346925" y="4575650"/>
            <a:ext cx="8598000" cy="362700"/>
          </a:xfrm>
          <a:prstGeom prst="rect">
            <a:avLst/>
          </a:prstGeom>
        </p:spPr>
        <p:txBody>
          <a:bodyPr anchorCtr="0" anchor="t" bIns="91425" lIns="91425" spcFirstLastPara="1" rIns="91425" wrap="square" tIns="91425">
            <a:normAutofit fontScale="90000"/>
          </a:bodyPr>
          <a:lstStyle/>
          <a:p>
            <a:pPr indent="0" lvl="0" marL="0" rtl="0" algn="r">
              <a:spcBef>
                <a:spcPts val="0"/>
              </a:spcBef>
              <a:spcAft>
                <a:spcPts val="0"/>
              </a:spcAft>
              <a:buNone/>
            </a:pPr>
            <a:r>
              <a:rPr lang="en" sz="1400"/>
              <a:t>Presenter: </a:t>
            </a:r>
            <a:r>
              <a:rPr b="1" lang="en" sz="1400"/>
              <a:t>Kade McRae</a:t>
            </a:r>
            <a:endParaRPr b="1" sz="14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1"/>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Acceptance Testing</a:t>
            </a:r>
            <a:endParaRPr/>
          </a:p>
        </p:txBody>
      </p:sp>
      <p:sp>
        <p:nvSpPr>
          <p:cNvPr id="188" name="Google Shape;188;p21"/>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Ensures product meets specified business requirements</a:t>
            </a:r>
            <a:endParaRPr/>
          </a:p>
          <a:p>
            <a:pPr indent="0" lvl="0" marL="0" rtl="0" algn="l">
              <a:spcBef>
                <a:spcPts val="1200"/>
              </a:spcBef>
              <a:spcAft>
                <a:spcPts val="1200"/>
              </a:spcAft>
              <a:buNone/>
            </a:pPr>
            <a:r>
              <a:rPr lang="en"/>
              <a:t>Alpha and beta testing</a:t>
            </a:r>
            <a:endParaRPr/>
          </a:p>
        </p:txBody>
      </p:sp>
      <p:sp>
        <p:nvSpPr>
          <p:cNvPr id="189" name="Google Shape;189;p21"/>
          <p:cNvSpPr txBox="1"/>
          <p:nvPr>
            <p:ph type="title"/>
          </p:nvPr>
        </p:nvSpPr>
        <p:spPr>
          <a:xfrm>
            <a:off x="346925" y="4575650"/>
            <a:ext cx="8598000" cy="362700"/>
          </a:xfrm>
          <a:prstGeom prst="rect">
            <a:avLst/>
          </a:prstGeom>
        </p:spPr>
        <p:txBody>
          <a:bodyPr anchorCtr="0" anchor="t" bIns="91425" lIns="91425" spcFirstLastPara="1" rIns="91425" wrap="square" tIns="91425">
            <a:normAutofit fontScale="90000"/>
          </a:bodyPr>
          <a:lstStyle/>
          <a:p>
            <a:pPr indent="0" lvl="0" marL="0" rtl="0" algn="r">
              <a:spcBef>
                <a:spcPts val="0"/>
              </a:spcBef>
              <a:spcAft>
                <a:spcPts val="0"/>
              </a:spcAft>
              <a:buNone/>
            </a:pPr>
            <a:r>
              <a:rPr lang="en" sz="1400"/>
              <a:t>Presenter: </a:t>
            </a:r>
            <a:r>
              <a:rPr b="1" lang="en" sz="1400"/>
              <a:t>Kade McRae</a:t>
            </a:r>
            <a:endParaRPr b="1" sz="14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2"/>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Course Requirements</a:t>
            </a:r>
            <a:endParaRPr/>
          </a:p>
        </p:txBody>
      </p:sp>
      <p:sp>
        <p:nvSpPr>
          <p:cNvPr id="195" name="Google Shape;195;p22"/>
          <p:cNvSpPr txBox="1"/>
          <p:nvPr>
            <p:ph type="title"/>
          </p:nvPr>
        </p:nvSpPr>
        <p:spPr>
          <a:xfrm>
            <a:off x="346925" y="4575650"/>
            <a:ext cx="8598000" cy="362700"/>
          </a:xfrm>
          <a:prstGeom prst="rect">
            <a:avLst/>
          </a:prstGeom>
        </p:spPr>
        <p:txBody>
          <a:bodyPr anchorCtr="0" anchor="ctr" bIns="91425" lIns="91425" spcFirstLastPara="1" rIns="91425" wrap="square" tIns="91425">
            <a:normAutofit fontScale="90000"/>
          </a:bodyPr>
          <a:lstStyle/>
          <a:p>
            <a:pPr indent="0" lvl="0" marL="0" rtl="0" algn="r">
              <a:spcBef>
                <a:spcPts val="0"/>
              </a:spcBef>
              <a:spcAft>
                <a:spcPts val="0"/>
              </a:spcAft>
              <a:buNone/>
            </a:pPr>
            <a:r>
              <a:rPr lang="en" sz="1400"/>
              <a:t>Presenter: </a:t>
            </a:r>
            <a:r>
              <a:rPr b="1" lang="en" sz="1400"/>
              <a:t>Kade McRae</a:t>
            </a:r>
            <a:endParaRPr b="1" sz="14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3"/>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Requirements</a:t>
            </a:r>
            <a:endParaRPr/>
          </a:p>
        </p:txBody>
      </p:sp>
      <p:sp>
        <p:nvSpPr>
          <p:cNvPr id="201" name="Google Shape;201;p23"/>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Initial test plan due before TL3 weekly</a:t>
            </a:r>
            <a:r>
              <a:rPr lang="en"/>
              <a:t> status update</a:t>
            </a:r>
            <a:endParaRPr/>
          </a:p>
          <a:p>
            <a:pPr indent="-311150" lvl="0" marL="457200" rtl="0" algn="l">
              <a:spcBef>
                <a:spcPts val="0"/>
              </a:spcBef>
              <a:spcAft>
                <a:spcPts val="0"/>
              </a:spcAft>
              <a:buSzPts val="1300"/>
              <a:buChar char="●"/>
            </a:pPr>
            <a:r>
              <a:rPr lang="en"/>
              <a:t>30 test cases </a:t>
            </a:r>
            <a:r>
              <a:rPr b="1" lang="en"/>
              <a:t>MUST</a:t>
            </a:r>
            <a:r>
              <a:rPr lang="en"/>
              <a:t> be done by oral ex</a:t>
            </a:r>
            <a:r>
              <a:rPr lang="en"/>
              <a:t>am</a:t>
            </a:r>
            <a:endParaRPr/>
          </a:p>
          <a:p>
            <a:pPr indent="-311150" lvl="0" marL="457200" rtl="0" algn="l">
              <a:spcBef>
                <a:spcPts val="0"/>
              </a:spcBef>
              <a:spcAft>
                <a:spcPts val="0"/>
              </a:spcAft>
              <a:buSzPts val="1300"/>
              <a:buChar char="●"/>
            </a:pPr>
            <a:r>
              <a:rPr lang="en"/>
              <a:t>Justify that one test case saved time during debugging</a:t>
            </a:r>
            <a:endParaRPr/>
          </a:p>
        </p:txBody>
      </p:sp>
      <p:sp>
        <p:nvSpPr>
          <p:cNvPr id="202" name="Google Shape;202;p23"/>
          <p:cNvSpPr txBox="1"/>
          <p:nvPr>
            <p:ph type="title"/>
          </p:nvPr>
        </p:nvSpPr>
        <p:spPr>
          <a:xfrm>
            <a:off x="346925" y="4575650"/>
            <a:ext cx="8598000" cy="362700"/>
          </a:xfrm>
          <a:prstGeom prst="rect">
            <a:avLst/>
          </a:prstGeom>
        </p:spPr>
        <p:txBody>
          <a:bodyPr anchorCtr="0" anchor="t" bIns="91425" lIns="91425" spcFirstLastPara="1" rIns="91425" wrap="square" tIns="91425">
            <a:normAutofit fontScale="90000"/>
          </a:bodyPr>
          <a:lstStyle/>
          <a:p>
            <a:pPr indent="0" lvl="0" marL="0" rtl="0" algn="r">
              <a:spcBef>
                <a:spcPts val="0"/>
              </a:spcBef>
              <a:spcAft>
                <a:spcPts val="0"/>
              </a:spcAft>
              <a:buNone/>
            </a:pPr>
            <a:r>
              <a:rPr lang="en" sz="1400"/>
              <a:t>Presenter: </a:t>
            </a:r>
            <a:r>
              <a:rPr b="1" lang="en" sz="1400"/>
              <a:t>Kade McRae</a:t>
            </a:r>
            <a:endParaRPr b="1" sz="14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4"/>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Boundary Tests</a:t>
            </a:r>
            <a:endParaRPr/>
          </a:p>
        </p:txBody>
      </p:sp>
      <p:sp>
        <p:nvSpPr>
          <p:cNvPr id="208" name="Google Shape;208;p24"/>
          <p:cNvSpPr txBox="1"/>
          <p:nvPr>
            <p:ph type="title"/>
          </p:nvPr>
        </p:nvSpPr>
        <p:spPr>
          <a:xfrm>
            <a:off x="346925" y="4575650"/>
            <a:ext cx="8598000" cy="362700"/>
          </a:xfrm>
          <a:prstGeom prst="rect">
            <a:avLst/>
          </a:prstGeom>
        </p:spPr>
        <p:txBody>
          <a:bodyPr anchorCtr="0" anchor="ctr" bIns="91425" lIns="91425" spcFirstLastPara="1" rIns="91425" wrap="square" tIns="91425">
            <a:normAutofit fontScale="90000"/>
          </a:bodyPr>
          <a:lstStyle/>
          <a:p>
            <a:pPr indent="0" lvl="0" marL="0" rtl="0" algn="r">
              <a:spcBef>
                <a:spcPts val="0"/>
              </a:spcBef>
              <a:spcAft>
                <a:spcPts val="0"/>
              </a:spcAft>
              <a:buNone/>
            </a:pPr>
            <a:r>
              <a:rPr lang="en" sz="1400"/>
              <a:t>Presenter: </a:t>
            </a:r>
            <a:r>
              <a:rPr b="1" lang="en" sz="1400"/>
              <a:t>Zach Current</a:t>
            </a:r>
            <a:endParaRPr b="1" sz="14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What is a boundary test?</a:t>
            </a:r>
            <a:endParaRPr/>
          </a:p>
        </p:txBody>
      </p:sp>
      <p:sp>
        <p:nvSpPr>
          <p:cNvPr id="214" name="Google Shape;214;p25"/>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 boundary test checks behavior right at the edge of allowed input. Examples include minimum health, maximum inventory size, score limits, or values just below and just above a threshold.</a:t>
            </a:r>
            <a:endParaRPr/>
          </a:p>
          <a:p>
            <a:pPr indent="0" lvl="0" marL="0" rtl="0" algn="l">
              <a:spcBef>
                <a:spcPts val="1200"/>
              </a:spcBef>
              <a:spcAft>
                <a:spcPts val="0"/>
              </a:spcAft>
              <a:buNone/>
            </a:pPr>
            <a:r>
              <a:rPr lang="en"/>
              <a:t>• Good boundary values usually include: the minimum valid value, the maximum valid value, one value just below the valid range, and one value just above it.</a:t>
            </a:r>
            <a:endParaRPr/>
          </a:p>
          <a:p>
            <a:pPr indent="0" lvl="0" marL="0" rtl="0" algn="l">
              <a:spcBef>
                <a:spcPts val="1200"/>
              </a:spcBef>
              <a:spcAft>
                <a:spcPts val="0"/>
              </a:spcAft>
              <a:buNone/>
            </a:pPr>
            <a:r>
              <a:rPr lang="en"/>
              <a:t>• For simple parameterized unit tests in Unity, NUnit’s [TestCase] attribute is a clean way to supply multiple inputs to one test method.</a:t>
            </a:r>
            <a:endParaRPr/>
          </a:p>
          <a:p>
            <a:pPr indent="0" lvl="0" marL="0" rtl="0" algn="l">
              <a:spcBef>
                <a:spcPts val="1200"/>
              </a:spcBef>
              <a:spcAft>
                <a:spcPts val="1200"/>
              </a:spcAft>
              <a:buNone/>
            </a:pPr>
            <a:r>
              <a:rPr lang="en"/>
              <a:t>Important: Unity’s documentation notes that [TestCase] works with normal unit tests, while [UnityTest] should generally use [ValueSource] instead of [TestCase].</a:t>
            </a:r>
            <a:endParaRPr/>
          </a:p>
        </p:txBody>
      </p:sp>
      <p:sp>
        <p:nvSpPr>
          <p:cNvPr id="215" name="Google Shape;215;p25"/>
          <p:cNvSpPr txBox="1"/>
          <p:nvPr>
            <p:ph type="title"/>
          </p:nvPr>
        </p:nvSpPr>
        <p:spPr>
          <a:xfrm>
            <a:off x="346925" y="4575650"/>
            <a:ext cx="8598000" cy="362700"/>
          </a:xfrm>
          <a:prstGeom prst="rect">
            <a:avLst/>
          </a:prstGeom>
        </p:spPr>
        <p:txBody>
          <a:bodyPr anchorCtr="0" anchor="t" bIns="91425" lIns="91425" spcFirstLastPara="1" rIns="91425" wrap="square" tIns="91425">
            <a:normAutofit fontScale="90000"/>
          </a:bodyPr>
          <a:lstStyle/>
          <a:p>
            <a:pPr indent="0" lvl="0" marL="0" rtl="0" algn="r">
              <a:spcBef>
                <a:spcPts val="0"/>
              </a:spcBef>
              <a:spcAft>
                <a:spcPts val="0"/>
              </a:spcAft>
              <a:buNone/>
            </a:pPr>
            <a:r>
              <a:rPr lang="en" sz="1400"/>
              <a:t>Presenter: </a:t>
            </a:r>
            <a:r>
              <a:rPr b="1" lang="en" sz="1400"/>
              <a:t>Zach Current</a:t>
            </a:r>
            <a:endParaRPr b="1" sz="14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Example</a:t>
            </a:r>
            <a:endParaRPr/>
          </a:p>
        </p:txBody>
      </p:sp>
      <p:sp>
        <p:nvSpPr>
          <p:cNvPr id="221" name="Google Shape;221;p26"/>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For function: </a:t>
            </a:r>
            <a:endParaRPr/>
          </a:p>
          <a:p>
            <a:pPr indent="0" lvl="0" marL="0" rtl="0" algn="l">
              <a:lnSpc>
                <a:spcPct val="100000"/>
              </a:lnSpc>
              <a:spcBef>
                <a:spcPts val="1200"/>
              </a:spcBef>
              <a:spcAft>
                <a:spcPts val="0"/>
              </a:spcAft>
              <a:buNone/>
            </a:pPr>
            <a:r>
              <a:rPr lang="en"/>
              <a:t>public static int ClampScore(int score)</a:t>
            </a:r>
            <a:endParaRPr/>
          </a:p>
          <a:p>
            <a:pPr indent="0" lvl="0" marL="0" rtl="0" algn="l">
              <a:lnSpc>
                <a:spcPct val="100000"/>
              </a:lnSpc>
              <a:spcBef>
                <a:spcPts val="0"/>
              </a:spcBef>
              <a:spcAft>
                <a:spcPts val="0"/>
              </a:spcAft>
              <a:buNone/>
            </a:pPr>
            <a:r>
              <a:rPr lang="en"/>
              <a:t>{</a:t>
            </a:r>
            <a:endParaRPr/>
          </a:p>
          <a:p>
            <a:pPr indent="457200" lvl="0" marL="0" rtl="0" algn="l">
              <a:lnSpc>
                <a:spcPct val="100000"/>
              </a:lnSpc>
              <a:spcBef>
                <a:spcPts val="0"/>
              </a:spcBef>
              <a:spcAft>
                <a:spcPts val="0"/>
              </a:spcAft>
              <a:buNone/>
            </a:pPr>
            <a:r>
              <a:rPr lang="en"/>
              <a:t>return Mathf.Clamp(score, 0, 100);</a:t>
            </a:r>
            <a:endParaRPr/>
          </a:p>
          <a:p>
            <a:pPr indent="0" lvl="0" marL="0" rtl="0" algn="l">
              <a:lnSpc>
                <a:spcPct val="100000"/>
              </a:lnSpc>
              <a:spcBef>
                <a:spcPts val="0"/>
              </a:spcBef>
              <a:spcAft>
                <a:spcPts val="0"/>
              </a:spcAft>
              <a:buNone/>
            </a:pPr>
            <a:r>
              <a:rPr lang="en"/>
              <a:t>}</a:t>
            </a:r>
            <a:endParaRPr/>
          </a:p>
        </p:txBody>
      </p:sp>
      <p:sp>
        <p:nvSpPr>
          <p:cNvPr id="222" name="Google Shape;222;p26"/>
          <p:cNvSpPr txBox="1"/>
          <p:nvPr>
            <p:ph type="title"/>
          </p:nvPr>
        </p:nvSpPr>
        <p:spPr>
          <a:xfrm>
            <a:off x="346925" y="4575650"/>
            <a:ext cx="8598000" cy="362700"/>
          </a:xfrm>
          <a:prstGeom prst="rect">
            <a:avLst/>
          </a:prstGeom>
        </p:spPr>
        <p:txBody>
          <a:bodyPr anchorCtr="0" anchor="t" bIns="91425" lIns="91425" spcFirstLastPara="1" rIns="91425" wrap="square" tIns="91425">
            <a:normAutofit fontScale="90000"/>
          </a:bodyPr>
          <a:lstStyle/>
          <a:p>
            <a:pPr indent="0" lvl="0" marL="0" rtl="0" algn="r">
              <a:spcBef>
                <a:spcPts val="0"/>
              </a:spcBef>
              <a:spcAft>
                <a:spcPts val="0"/>
              </a:spcAft>
              <a:buNone/>
            </a:pPr>
            <a:r>
              <a:rPr lang="en" sz="1400"/>
              <a:t>Presenter: </a:t>
            </a:r>
            <a:r>
              <a:rPr b="1" lang="en" sz="1400"/>
              <a:t>Zach Current</a:t>
            </a:r>
            <a:endParaRPr b="1" sz="14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Example (cont)</a:t>
            </a:r>
            <a:endParaRPr/>
          </a:p>
        </p:txBody>
      </p:sp>
      <p:pic>
        <p:nvPicPr>
          <p:cNvPr id="228" name="Google Shape;228;p27" title="Screenshot_20260309_170704.png"/>
          <p:cNvPicPr preferRelativeResize="0"/>
          <p:nvPr/>
        </p:nvPicPr>
        <p:blipFill>
          <a:blip r:embed="rId3">
            <a:alphaModFix/>
          </a:blip>
          <a:stretch>
            <a:fillRect/>
          </a:stretch>
        </p:blipFill>
        <p:spPr>
          <a:xfrm>
            <a:off x="1297500" y="1520113"/>
            <a:ext cx="6648450" cy="2524125"/>
          </a:xfrm>
          <a:prstGeom prst="rect">
            <a:avLst/>
          </a:prstGeom>
          <a:noFill/>
          <a:ln>
            <a:noFill/>
          </a:ln>
        </p:spPr>
      </p:pic>
      <p:sp>
        <p:nvSpPr>
          <p:cNvPr id="229" name="Google Shape;229;p27"/>
          <p:cNvSpPr txBox="1"/>
          <p:nvPr>
            <p:ph type="title"/>
          </p:nvPr>
        </p:nvSpPr>
        <p:spPr>
          <a:xfrm>
            <a:off x="346925" y="4575650"/>
            <a:ext cx="8598000" cy="362700"/>
          </a:xfrm>
          <a:prstGeom prst="rect">
            <a:avLst/>
          </a:prstGeom>
        </p:spPr>
        <p:txBody>
          <a:bodyPr anchorCtr="0" anchor="t" bIns="91425" lIns="91425" spcFirstLastPara="1" rIns="91425" wrap="square" tIns="91425">
            <a:normAutofit fontScale="90000"/>
          </a:bodyPr>
          <a:lstStyle/>
          <a:p>
            <a:pPr indent="0" lvl="0" marL="0" rtl="0" algn="r">
              <a:spcBef>
                <a:spcPts val="0"/>
              </a:spcBef>
              <a:spcAft>
                <a:spcPts val="0"/>
              </a:spcAft>
              <a:buNone/>
            </a:pPr>
            <a:r>
              <a:rPr lang="en" sz="1400"/>
              <a:t>Presenter: </a:t>
            </a:r>
            <a:r>
              <a:rPr b="1" lang="en" sz="1400"/>
              <a:t>Zach Current</a:t>
            </a:r>
            <a:endParaRPr b="1" sz="14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Things to Note</a:t>
            </a:r>
            <a:endParaRPr/>
          </a:p>
        </p:txBody>
      </p:sp>
      <p:sp>
        <p:nvSpPr>
          <p:cNvPr id="235" name="Google Shape;235;p28"/>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Each [TestCase] line becomes a separate test run with its own input values.</a:t>
            </a:r>
            <a:endParaRPr/>
          </a:p>
          <a:p>
            <a:pPr indent="-311150" lvl="0" marL="457200" rtl="0" algn="l">
              <a:spcBef>
                <a:spcPts val="0"/>
              </a:spcBef>
              <a:spcAft>
                <a:spcPts val="0"/>
              </a:spcAft>
              <a:buSzPts val="1300"/>
              <a:buChar char="●"/>
            </a:pPr>
            <a:r>
              <a:rPr lang="en"/>
              <a:t>If one input fails, the others can still pass, which makes it easier to see exactly which boundary broke.</a:t>
            </a:r>
            <a:endParaRPr/>
          </a:p>
          <a:p>
            <a:pPr indent="-311150" lvl="0" marL="457200" rtl="0" algn="l">
              <a:spcBef>
                <a:spcPts val="0"/>
              </a:spcBef>
              <a:spcAft>
                <a:spcPts val="0"/>
              </a:spcAft>
              <a:buSzPts val="1300"/>
              <a:buChar char="●"/>
            </a:pPr>
            <a:r>
              <a:rPr lang="en"/>
              <a:t>Name tests around behavior, not implementation details. A good test name tells your classmates what should happen.</a:t>
            </a:r>
            <a:endParaRPr/>
          </a:p>
        </p:txBody>
      </p:sp>
      <p:sp>
        <p:nvSpPr>
          <p:cNvPr id="236" name="Google Shape;236;p28"/>
          <p:cNvSpPr txBox="1"/>
          <p:nvPr>
            <p:ph type="title"/>
          </p:nvPr>
        </p:nvSpPr>
        <p:spPr>
          <a:xfrm>
            <a:off x="346925" y="4575650"/>
            <a:ext cx="8598000" cy="362700"/>
          </a:xfrm>
          <a:prstGeom prst="rect">
            <a:avLst/>
          </a:prstGeom>
        </p:spPr>
        <p:txBody>
          <a:bodyPr anchorCtr="0" anchor="t" bIns="91425" lIns="91425" spcFirstLastPara="1" rIns="91425" wrap="square" tIns="91425">
            <a:normAutofit fontScale="90000"/>
          </a:bodyPr>
          <a:lstStyle/>
          <a:p>
            <a:pPr indent="0" lvl="0" marL="0" rtl="0" algn="r">
              <a:spcBef>
                <a:spcPts val="0"/>
              </a:spcBef>
              <a:spcAft>
                <a:spcPts val="0"/>
              </a:spcAft>
              <a:buNone/>
            </a:pPr>
            <a:r>
              <a:rPr lang="en" sz="1400"/>
              <a:t>Presenter: </a:t>
            </a:r>
            <a:r>
              <a:rPr b="1" lang="en" sz="1400"/>
              <a:t>Zach Current</a:t>
            </a:r>
            <a:endParaRPr b="1" sz="14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29"/>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Stress Tests</a:t>
            </a:r>
            <a:endParaRPr/>
          </a:p>
        </p:txBody>
      </p:sp>
      <p:sp>
        <p:nvSpPr>
          <p:cNvPr id="242" name="Google Shape;242;p29"/>
          <p:cNvSpPr txBox="1"/>
          <p:nvPr>
            <p:ph type="title"/>
          </p:nvPr>
        </p:nvSpPr>
        <p:spPr>
          <a:xfrm>
            <a:off x="346925" y="4575650"/>
            <a:ext cx="8598000" cy="362700"/>
          </a:xfrm>
          <a:prstGeom prst="rect">
            <a:avLst/>
          </a:prstGeom>
        </p:spPr>
        <p:txBody>
          <a:bodyPr anchorCtr="0" anchor="ctr" bIns="91425" lIns="91425" spcFirstLastPara="1" rIns="91425" wrap="square" tIns="91425">
            <a:normAutofit fontScale="90000"/>
          </a:bodyPr>
          <a:lstStyle/>
          <a:p>
            <a:pPr indent="0" lvl="0" marL="0" rtl="0" algn="r">
              <a:spcBef>
                <a:spcPts val="0"/>
              </a:spcBef>
              <a:spcAft>
                <a:spcPts val="0"/>
              </a:spcAft>
              <a:buNone/>
            </a:pPr>
            <a:r>
              <a:rPr lang="en" sz="1400"/>
              <a:t>Presenter: </a:t>
            </a:r>
            <a:r>
              <a:rPr b="1" lang="en" sz="1400"/>
              <a:t>Leo Nelson</a:t>
            </a:r>
            <a:endParaRPr b="1" sz="14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What is a stress test?</a:t>
            </a:r>
            <a:endParaRPr/>
          </a:p>
        </p:txBody>
      </p:sp>
      <p:sp>
        <p:nvSpPr>
          <p:cNvPr id="248" name="Google Shape;248;p30"/>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 stress test evaluates how a system behaves when under heavy load (or stress!)</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The test starts with normal working conditions and gradually increases the load until the system either completely fails or </a:t>
            </a:r>
            <a:r>
              <a:rPr lang="en"/>
              <a:t>begins to show performance issues.</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The point where a system fails is referred to as the break point.</a:t>
            </a:r>
            <a:endParaRPr/>
          </a:p>
        </p:txBody>
      </p:sp>
      <p:sp>
        <p:nvSpPr>
          <p:cNvPr id="249" name="Google Shape;249;p30"/>
          <p:cNvSpPr txBox="1"/>
          <p:nvPr>
            <p:ph type="title"/>
          </p:nvPr>
        </p:nvSpPr>
        <p:spPr>
          <a:xfrm>
            <a:off x="346925" y="4575650"/>
            <a:ext cx="8598000" cy="362700"/>
          </a:xfrm>
          <a:prstGeom prst="rect">
            <a:avLst/>
          </a:prstGeom>
        </p:spPr>
        <p:txBody>
          <a:bodyPr anchorCtr="0" anchor="t" bIns="91425" lIns="91425" spcFirstLastPara="1" rIns="91425" wrap="square" tIns="91425">
            <a:normAutofit fontScale="90000"/>
          </a:bodyPr>
          <a:lstStyle/>
          <a:p>
            <a:pPr indent="0" lvl="0" marL="0" rtl="0" algn="r">
              <a:spcBef>
                <a:spcPts val="0"/>
              </a:spcBef>
              <a:spcAft>
                <a:spcPts val="0"/>
              </a:spcAft>
              <a:buNone/>
            </a:pPr>
            <a:r>
              <a:rPr lang="en" sz="1400"/>
              <a:t>Presenter: </a:t>
            </a:r>
            <a:r>
              <a:rPr b="1" lang="en" sz="1400"/>
              <a:t>Leo Nelson</a:t>
            </a:r>
            <a:endParaRPr b="1" sz="14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1"/>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Example: Login System Stress Test</a:t>
            </a:r>
            <a:endParaRPr/>
          </a:p>
        </p:txBody>
      </p:sp>
      <p:sp>
        <p:nvSpPr>
          <p:cNvPr id="255" name="Google Shape;255;p31"/>
          <p:cNvSpPr txBox="1"/>
          <p:nvPr>
            <p:ph idx="1" type="body"/>
          </p:nvPr>
        </p:nvSpPr>
        <p:spPr>
          <a:xfrm>
            <a:off x="1297500" y="1567550"/>
            <a:ext cx="72405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 stress test can be used to find how many users can log in at the same time before system slowdown or failure.</a:t>
            </a:r>
            <a:endParaRPr/>
          </a:p>
          <a:p>
            <a:pPr indent="0" lvl="0" marL="0" rtl="0" algn="l">
              <a:spcBef>
                <a:spcPts val="1200"/>
              </a:spcBef>
              <a:spcAft>
                <a:spcPts val="0"/>
              </a:spcAft>
              <a:buNone/>
            </a:pPr>
            <a:r>
              <a:rPr lang="en"/>
              <a:t>Test Process:</a:t>
            </a:r>
            <a:endParaRPr/>
          </a:p>
          <a:p>
            <a:pPr indent="-311150" lvl="0" marL="457200" rtl="0" algn="l">
              <a:spcBef>
                <a:spcPts val="1200"/>
              </a:spcBef>
              <a:spcAft>
                <a:spcPts val="0"/>
              </a:spcAft>
              <a:buSzPts val="1300"/>
              <a:buAutoNum type="arabicPeriod"/>
            </a:pPr>
            <a:r>
              <a:rPr lang="en"/>
              <a:t>Start with 10 users logged in</a:t>
            </a:r>
            <a:endParaRPr/>
          </a:p>
          <a:p>
            <a:pPr indent="-311150" lvl="0" marL="457200" rtl="0" algn="l">
              <a:spcBef>
                <a:spcPts val="0"/>
              </a:spcBef>
              <a:spcAft>
                <a:spcPts val="0"/>
              </a:spcAft>
              <a:buSzPts val="1300"/>
              <a:buAutoNum type="arabicPeriod"/>
            </a:pPr>
            <a:r>
              <a:rPr lang="en"/>
              <a:t>Increase to 100</a:t>
            </a:r>
            <a:endParaRPr/>
          </a:p>
          <a:p>
            <a:pPr indent="-311150" lvl="0" marL="457200" rtl="0" algn="l">
              <a:spcBef>
                <a:spcPts val="0"/>
              </a:spcBef>
              <a:spcAft>
                <a:spcPts val="0"/>
              </a:spcAft>
              <a:buSzPts val="1300"/>
              <a:buAutoNum type="arabicPeriod"/>
            </a:pPr>
            <a:r>
              <a:rPr lang="en"/>
              <a:t>Increase to 500</a:t>
            </a:r>
            <a:endParaRPr/>
          </a:p>
          <a:p>
            <a:pPr indent="-311150" lvl="0" marL="457200" rtl="0" algn="l">
              <a:spcBef>
                <a:spcPts val="0"/>
              </a:spcBef>
              <a:spcAft>
                <a:spcPts val="0"/>
              </a:spcAft>
              <a:buSzPts val="1300"/>
              <a:buAutoNum type="arabicPeriod"/>
            </a:pPr>
            <a:r>
              <a:rPr lang="en"/>
              <a:t>Increase to 1000</a:t>
            </a:r>
            <a:endParaRPr/>
          </a:p>
          <a:p>
            <a:pPr indent="0" lvl="0" marL="0" rtl="0" algn="l">
              <a:spcBef>
                <a:spcPts val="1200"/>
              </a:spcBef>
              <a:spcAft>
                <a:spcPts val="0"/>
              </a:spcAft>
              <a:buNone/>
            </a:pPr>
            <a:r>
              <a:rPr lang="en"/>
              <a:t>Monitor system performance and errors</a:t>
            </a:r>
            <a:endParaRPr/>
          </a:p>
          <a:p>
            <a:pPr indent="0" lvl="0" marL="0" rtl="0" algn="l">
              <a:spcBef>
                <a:spcPts val="1200"/>
              </a:spcBef>
              <a:spcAft>
                <a:spcPts val="1200"/>
              </a:spcAft>
              <a:buNone/>
            </a:pPr>
            <a:r>
              <a:rPr lang="en"/>
              <a:t>The first point where the system becomes unstable is the </a:t>
            </a:r>
            <a:r>
              <a:rPr b="1" lang="en"/>
              <a:t>break point</a:t>
            </a:r>
            <a:r>
              <a:rPr lang="en"/>
              <a:t>.</a:t>
            </a:r>
            <a:endParaRPr/>
          </a:p>
        </p:txBody>
      </p:sp>
      <p:sp>
        <p:nvSpPr>
          <p:cNvPr id="256" name="Google Shape;256;p31"/>
          <p:cNvSpPr txBox="1"/>
          <p:nvPr>
            <p:ph type="title"/>
          </p:nvPr>
        </p:nvSpPr>
        <p:spPr>
          <a:xfrm>
            <a:off x="346925" y="4575650"/>
            <a:ext cx="8598000" cy="362700"/>
          </a:xfrm>
          <a:prstGeom prst="rect">
            <a:avLst/>
          </a:prstGeom>
        </p:spPr>
        <p:txBody>
          <a:bodyPr anchorCtr="0" anchor="t" bIns="91425" lIns="91425" spcFirstLastPara="1" rIns="91425" wrap="square" tIns="91425">
            <a:normAutofit fontScale="90000"/>
          </a:bodyPr>
          <a:lstStyle/>
          <a:p>
            <a:pPr indent="0" lvl="0" marL="0" rtl="0" algn="r">
              <a:spcBef>
                <a:spcPts val="0"/>
              </a:spcBef>
              <a:spcAft>
                <a:spcPts val="0"/>
              </a:spcAft>
              <a:buNone/>
            </a:pPr>
            <a:r>
              <a:rPr lang="en" sz="1400"/>
              <a:t>Presenter: </a:t>
            </a:r>
            <a:r>
              <a:rPr b="1" lang="en" sz="1400"/>
              <a:t>Leo Nelson</a:t>
            </a:r>
            <a:endParaRPr b="1" sz="14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2"/>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Things to Note</a:t>
            </a:r>
            <a:endParaRPr/>
          </a:p>
        </p:txBody>
      </p:sp>
      <p:sp>
        <p:nvSpPr>
          <p:cNvPr id="262" name="Google Shape;262;p32"/>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11150" lvl="0" marL="457200" rtl="0" algn="l">
              <a:lnSpc>
                <a:spcPct val="200000"/>
              </a:lnSpc>
              <a:spcBef>
                <a:spcPts val="0"/>
              </a:spcBef>
              <a:spcAft>
                <a:spcPts val="0"/>
              </a:spcAft>
              <a:buSzPts val="1300"/>
              <a:buChar char="●"/>
            </a:pPr>
            <a:r>
              <a:rPr lang="en"/>
              <a:t>Stress tests should start with a passing condition.</a:t>
            </a:r>
            <a:endParaRPr/>
          </a:p>
          <a:p>
            <a:pPr indent="-311150" lvl="0" marL="457200" rtl="0" algn="l">
              <a:lnSpc>
                <a:spcPct val="200000"/>
              </a:lnSpc>
              <a:spcBef>
                <a:spcPts val="0"/>
              </a:spcBef>
              <a:spcAft>
                <a:spcPts val="0"/>
              </a:spcAft>
              <a:buSzPts val="1300"/>
              <a:buChar char="●"/>
            </a:pPr>
            <a:r>
              <a:rPr lang="en"/>
              <a:t>Gradual increase amount should be adjusted depending on your project. For some projects, a 100 increase is a lot, while for others it is negligible.</a:t>
            </a:r>
            <a:endParaRPr/>
          </a:p>
          <a:p>
            <a:pPr indent="-311150" lvl="0" marL="457200" rtl="0" algn="l">
              <a:lnSpc>
                <a:spcPct val="200000"/>
              </a:lnSpc>
              <a:spcBef>
                <a:spcPts val="0"/>
              </a:spcBef>
              <a:spcAft>
                <a:spcPts val="0"/>
              </a:spcAft>
              <a:buSzPts val="1300"/>
              <a:buChar char="●"/>
            </a:pPr>
            <a:r>
              <a:rPr lang="en"/>
              <a:t>Stress tests are used to identify limits </a:t>
            </a:r>
            <a:r>
              <a:rPr b="1" lang="en"/>
              <a:t>before</a:t>
            </a:r>
            <a:r>
              <a:rPr lang="en"/>
              <a:t> real users encounter them.</a:t>
            </a:r>
            <a:endParaRPr/>
          </a:p>
        </p:txBody>
      </p:sp>
      <p:sp>
        <p:nvSpPr>
          <p:cNvPr id="263" name="Google Shape;263;p32"/>
          <p:cNvSpPr txBox="1"/>
          <p:nvPr>
            <p:ph type="title"/>
          </p:nvPr>
        </p:nvSpPr>
        <p:spPr>
          <a:xfrm>
            <a:off x="346925" y="4575650"/>
            <a:ext cx="8598000" cy="362700"/>
          </a:xfrm>
          <a:prstGeom prst="rect">
            <a:avLst/>
          </a:prstGeom>
        </p:spPr>
        <p:txBody>
          <a:bodyPr anchorCtr="0" anchor="t" bIns="91425" lIns="91425" spcFirstLastPara="1" rIns="91425" wrap="square" tIns="91425">
            <a:normAutofit fontScale="90000"/>
          </a:bodyPr>
          <a:lstStyle/>
          <a:p>
            <a:pPr indent="0" lvl="0" marL="0" rtl="0" algn="r">
              <a:spcBef>
                <a:spcPts val="0"/>
              </a:spcBef>
              <a:spcAft>
                <a:spcPts val="0"/>
              </a:spcAft>
              <a:buNone/>
            </a:pPr>
            <a:r>
              <a:rPr lang="en" sz="1400"/>
              <a:t>Presenter: </a:t>
            </a:r>
            <a:r>
              <a:rPr b="1" lang="en" sz="1400"/>
              <a:t>Leo Nelson</a:t>
            </a:r>
            <a:endParaRPr b="1" sz="14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Initial Test Plans</a:t>
            </a:r>
            <a:endParaRPr/>
          </a:p>
        </p:txBody>
      </p:sp>
      <p:sp>
        <p:nvSpPr>
          <p:cNvPr id="269" name="Google Shape;269;p33"/>
          <p:cNvSpPr txBox="1"/>
          <p:nvPr>
            <p:ph type="title"/>
          </p:nvPr>
        </p:nvSpPr>
        <p:spPr>
          <a:xfrm>
            <a:off x="346925" y="4575650"/>
            <a:ext cx="8598000" cy="362700"/>
          </a:xfrm>
          <a:prstGeom prst="rect">
            <a:avLst/>
          </a:prstGeom>
        </p:spPr>
        <p:txBody>
          <a:bodyPr anchorCtr="0" anchor="ctr" bIns="91425" lIns="91425" spcFirstLastPara="1" rIns="91425" wrap="square" tIns="91425">
            <a:normAutofit fontScale="90000"/>
          </a:bodyPr>
          <a:lstStyle/>
          <a:p>
            <a:pPr indent="0" lvl="0" marL="0" rtl="0" algn="r">
              <a:spcBef>
                <a:spcPts val="0"/>
              </a:spcBef>
              <a:spcAft>
                <a:spcPts val="0"/>
              </a:spcAft>
              <a:buNone/>
            </a:pPr>
            <a:r>
              <a:rPr lang="en" sz="1400"/>
              <a:t>Presenter: </a:t>
            </a:r>
            <a:r>
              <a:rPr b="1" lang="en" sz="1400"/>
              <a:t>Brandon Lunney</a:t>
            </a:r>
            <a:endParaRPr b="1" sz="14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Initial Test Plan for Fruit of the Witch</a:t>
            </a:r>
            <a:endParaRPr/>
          </a:p>
        </p:txBody>
      </p:sp>
      <p:sp>
        <p:nvSpPr>
          <p:cNvPr id="275" name="Google Shape;275;p34"/>
          <p:cNvSpPr txBox="1"/>
          <p:nvPr>
            <p:ph idx="1" type="body"/>
          </p:nvPr>
        </p:nvSpPr>
        <p:spPr>
          <a:xfrm>
            <a:off x="1297500" y="1001450"/>
            <a:ext cx="7038900" cy="3324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sz="2200">
                <a:solidFill>
                  <a:srgbClr val="00FFFF"/>
                </a:solidFill>
                <a:latin typeface="Arial"/>
                <a:ea typeface="Arial"/>
                <a:cs typeface="Arial"/>
                <a:sym typeface="Arial"/>
              </a:rPr>
              <a:t>Boundary</a:t>
            </a:r>
            <a:r>
              <a:rPr b="1" lang="en" sz="2200">
                <a:solidFill>
                  <a:srgbClr val="00FFFF"/>
                </a:solidFill>
                <a:latin typeface="Arial"/>
                <a:ea typeface="Arial"/>
                <a:cs typeface="Arial"/>
                <a:sym typeface="Arial"/>
              </a:rPr>
              <a:t> Test</a:t>
            </a:r>
            <a:endParaRPr b="1" sz="2400">
              <a:solidFill>
                <a:srgbClr val="00FFFF"/>
              </a:solidFill>
            </a:endParaRPr>
          </a:p>
        </p:txBody>
      </p:sp>
      <p:sp>
        <p:nvSpPr>
          <p:cNvPr id="276" name="Google Shape;276;p34"/>
          <p:cNvSpPr txBox="1"/>
          <p:nvPr>
            <p:ph type="title"/>
          </p:nvPr>
        </p:nvSpPr>
        <p:spPr>
          <a:xfrm>
            <a:off x="346925" y="4575650"/>
            <a:ext cx="8598000" cy="362700"/>
          </a:xfrm>
          <a:prstGeom prst="rect">
            <a:avLst/>
          </a:prstGeom>
        </p:spPr>
        <p:txBody>
          <a:bodyPr anchorCtr="0" anchor="t" bIns="91425" lIns="91425" spcFirstLastPara="1" rIns="91425" wrap="square" tIns="91425">
            <a:normAutofit fontScale="90000"/>
          </a:bodyPr>
          <a:lstStyle/>
          <a:p>
            <a:pPr indent="0" lvl="0" marL="0" rtl="0" algn="r">
              <a:spcBef>
                <a:spcPts val="0"/>
              </a:spcBef>
              <a:spcAft>
                <a:spcPts val="0"/>
              </a:spcAft>
              <a:buNone/>
            </a:pPr>
            <a:r>
              <a:rPr lang="en" sz="1400"/>
              <a:t>Presenter: </a:t>
            </a:r>
            <a:r>
              <a:rPr b="1" lang="en" sz="1400"/>
              <a:t>Brandon Lunney</a:t>
            </a:r>
            <a:endParaRPr b="1" sz="1400"/>
          </a:p>
        </p:txBody>
      </p:sp>
      <p:sp>
        <p:nvSpPr>
          <p:cNvPr id="277" name="Google Shape;277;p34"/>
          <p:cNvSpPr txBox="1"/>
          <p:nvPr>
            <p:ph idx="1" type="body"/>
          </p:nvPr>
        </p:nvSpPr>
        <p:spPr>
          <a:xfrm>
            <a:off x="1297500" y="1567550"/>
            <a:ext cx="3453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100">
                <a:latin typeface="Arial"/>
                <a:ea typeface="Arial"/>
                <a:cs typeface="Arial"/>
                <a:sym typeface="Arial"/>
              </a:rPr>
              <a:t>Testing the </a:t>
            </a:r>
            <a:r>
              <a:rPr lang="en" sz="1100">
                <a:latin typeface="Arial"/>
                <a:ea typeface="Arial"/>
                <a:cs typeface="Arial"/>
                <a:sym typeface="Arial"/>
              </a:rPr>
              <a:t>boundary</a:t>
            </a:r>
            <a:r>
              <a:rPr lang="en" sz="1100">
                <a:latin typeface="Arial"/>
                <a:ea typeface="Arial"/>
                <a:cs typeface="Arial"/>
                <a:sym typeface="Arial"/>
              </a:rPr>
              <a:t> of how many triangles can be in the detection cone.</a:t>
            </a:r>
            <a:endParaRPr sz="1100">
              <a:latin typeface="Arial"/>
              <a:ea typeface="Arial"/>
              <a:cs typeface="Arial"/>
              <a:sym typeface="Arial"/>
            </a:endParaRPr>
          </a:p>
          <a:p>
            <a:pPr indent="0" lvl="0" marL="0" rtl="0" algn="l">
              <a:spcBef>
                <a:spcPts val="1200"/>
              </a:spcBef>
              <a:spcAft>
                <a:spcPts val="0"/>
              </a:spcAft>
              <a:buNone/>
            </a:pPr>
            <a:r>
              <a:rPr lang="en">
                <a:latin typeface="Arial"/>
                <a:ea typeface="Arial"/>
                <a:cs typeface="Arial"/>
                <a:sym typeface="Arial"/>
              </a:rPr>
              <a:t>Testing where the amount of triangles are too much. </a:t>
            </a:r>
            <a:endParaRPr>
              <a:latin typeface="Arial"/>
              <a:ea typeface="Arial"/>
              <a:cs typeface="Arial"/>
              <a:sym typeface="Arial"/>
            </a:endParaRPr>
          </a:p>
          <a:p>
            <a:pPr indent="0" lvl="0" marL="0" rtl="0" algn="l">
              <a:spcBef>
                <a:spcPts val="1200"/>
              </a:spcBef>
              <a:spcAft>
                <a:spcPts val="0"/>
              </a:spcAft>
              <a:buNone/>
            </a:pPr>
            <a:r>
              <a:rPr lang="en">
                <a:latin typeface="Arial"/>
                <a:ea typeface="Arial"/>
                <a:cs typeface="Arial"/>
                <a:sym typeface="Arial"/>
              </a:rPr>
              <a:t>It continuously doubles the amount of triangles until it breaks pr hits 100000</a:t>
            </a:r>
            <a:endParaRPr>
              <a:latin typeface="Arial"/>
              <a:ea typeface="Arial"/>
              <a:cs typeface="Arial"/>
              <a:sym typeface="Arial"/>
            </a:endParaRPr>
          </a:p>
          <a:p>
            <a:pPr indent="0" lvl="0" marL="0" rtl="0" algn="l">
              <a:spcBef>
                <a:spcPts val="1200"/>
              </a:spcBef>
              <a:spcAft>
                <a:spcPts val="1200"/>
              </a:spcAft>
              <a:buNone/>
            </a:pPr>
            <a:r>
              <a:rPr lang="en">
                <a:latin typeface="Arial"/>
                <a:ea typeface="Arial"/>
                <a:cs typeface="Arial"/>
                <a:sym typeface="Arial"/>
              </a:rPr>
              <a:t>Safe up to 100000</a:t>
            </a:r>
            <a:endParaRPr>
              <a:latin typeface="Arial"/>
              <a:ea typeface="Arial"/>
              <a:cs typeface="Arial"/>
              <a:sym typeface="Arial"/>
            </a:endParaRPr>
          </a:p>
        </p:txBody>
      </p:sp>
      <p:pic>
        <p:nvPicPr>
          <p:cNvPr id="278" name="Google Shape;278;p34"/>
          <p:cNvPicPr preferRelativeResize="0"/>
          <p:nvPr/>
        </p:nvPicPr>
        <p:blipFill>
          <a:blip r:embed="rId3">
            <a:alphaModFix/>
          </a:blip>
          <a:stretch>
            <a:fillRect/>
          </a:stretch>
        </p:blipFill>
        <p:spPr>
          <a:xfrm>
            <a:off x="5198800" y="899100"/>
            <a:ext cx="2834103" cy="36765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Initial Test Plan for Fruit of the Witch</a:t>
            </a:r>
            <a:endParaRPr/>
          </a:p>
        </p:txBody>
      </p:sp>
      <p:sp>
        <p:nvSpPr>
          <p:cNvPr id="284" name="Google Shape;284;p35"/>
          <p:cNvSpPr txBox="1"/>
          <p:nvPr>
            <p:ph type="title"/>
          </p:nvPr>
        </p:nvSpPr>
        <p:spPr>
          <a:xfrm>
            <a:off x="346925" y="4575650"/>
            <a:ext cx="8598000" cy="362700"/>
          </a:xfrm>
          <a:prstGeom prst="rect">
            <a:avLst/>
          </a:prstGeom>
        </p:spPr>
        <p:txBody>
          <a:bodyPr anchorCtr="0" anchor="t" bIns="91425" lIns="91425" spcFirstLastPara="1" rIns="91425" wrap="square" tIns="91425">
            <a:normAutofit fontScale="90000"/>
          </a:bodyPr>
          <a:lstStyle/>
          <a:p>
            <a:pPr indent="0" lvl="0" marL="0" rtl="0" algn="r">
              <a:spcBef>
                <a:spcPts val="0"/>
              </a:spcBef>
              <a:spcAft>
                <a:spcPts val="0"/>
              </a:spcAft>
              <a:buNone/>
            </a:pPr>
            <a:r>
              <a:rPr lang="en" sz="1400"/>
              <a:t>Presenter: </a:t>
            </a:r>
            <a:r>
              <a:rPr b="1" lang="en" sz="1400"/>
              <a:t>Brandon Lunney</a:t>
            </a:r>
            <a:endParaRPr b="1" sz="1400"/>
          </a:p>
        </p:txBody>
      </p:sp>
      <p:sp>
        <p:nvSpPr>
          <p:cNvPr id="285" name="Google Shape;285;p35"/>
          <p:cNvSpPr txBox="1"/>
          <p:nvPr>
            <p:ph idx="1" type="body"/>
          </p:nvPr>
        </p:nvSpPr>
        <p:spPr>
          <a:xfrm>
            <a:off x="1297500" y="1001450"/>
            <a:ext cx="7038900" cy="3324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sz="2200">
                <a:solidFill>
                  <a:srgbClr val="00FFFF"/>
                </a:solidFill>
                <a:latin typeface="Arial"/>
                <a:ea typeface="Arial"/>
                <a:cs typeface="Arial"/>
                <a:sym typeface="Arial"/>
              </a:rPr>
              <a:t>Stress </a:t>
            </a:r>
            <a:r>
              <a:rPr b="1" lang="en" sz="2200">
                <a:solidFill>
                  <a:srgbClr val="00FFFF"/>
                </a:solidFill>
                <a:latin typeface="Arial"/>
                <a:ea typeface="Arial"/>
                <a:cs typeface="Arial"/>
                <a:sym typeface="Arial"/>
              </a:rPr>
              <a:t>Test</a:t>
            </a:r>
            <a:endParaRPr b="1" sz="2400">
              <a:solidFill>
                <a:srgbClr val="00FFFF"/>
              </a:solidFill>
            </a:endParaRPr>
          </a:p>
        </p:txBody>
      </p:sp>
      <p:sp>
        <p:nvSpPr>
          <p:cNvPr id="286" name="Google Shape;286;p35"/>
          <p:cNvSpPr txBox="1"/>
          <p:nvPr>
            <p:ph idx="1" type="body"/>
          </p:nvPr>
        </p:nvSpPr>
        <p:spPr>
          <a:xfrm>
            <a:off x="1297500" y="1567550"/>
            <a:ext cx="3453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100">
                <a:latin typeface="Arial"/>
                <a:ea typeface="Arial"/>
                <a:cs typeface="Arial"/>
                <a:sym typeface="Arial"/>
              </a:rPr>
              <a:t>Testing the stress by spawning in a ton of enemies.</a:t>
            </a:r>
            <a:endParaRPr sz="1100">
              <a:latin typeface="Arial"/>
              <a:ea typeface="Arial"/>
              <a:cs typeface="Arial"/>
              <a:sym typeface="Arial"/>
            </a:endParaRPr>
          </a:p>
          <a:p>
            <a:pPr indent="0" lvl="0" marL="0" rtl="0" algn="l">
              <a:spcBef>
                <a:spcPts val="1200"/>
              </a:spcBef>
              <a:spcAft>
                <a:spcPts val="0"/>
              </a:spcAft>
              <a:buNone/>
            </a:pPr>
            <a:r>
              <a:rPr lang="en">
                <a:latin typeface="Arial"/>
                <a:ea typeface="Arial"/>
                <a:cs typeface="Arial"/>
                <a:sym typeface="Arial"/>
              </a:rPr>
              <a:t>Testing where the amount of enemies are too much. </a:t>
            </a:r>
            <a:endParaRPr>
              <a:latin typeface="Arial"/>
              <a:ea typeface="Arial"/>
              <a:cs typeface="Arial"/>
              <a:sym typeface="Arial"/>
            </a:endParaRPr>
          </a:p>
          <a:p>
            <a:pPr indent="0" lvl="0" marL="0" rtl="0" algn="l">
              <a:spcBef>
                <a:spcPts val="1200"/>
              </a:spcBef>
              <a:spcAft>
                <a:spcPts val="0"/>
              </a:spcAft>
              <a:buNone/>
            </a:pPr>
            <a:r>
              <a:rPr lang="en">
                <a:latin typeface="Arial"/>
                <a:ea typeface="Arial"/>
                <a:cs typeface="Arial"/>
                <a:sym typeface="Arial"/>
              </a:rPr>
              <a:t>It continuously doubles the amount of enemies until it breaks or hits 100000</a:t>
            </a:r>
            <a:endParaRPr>
              <a:latin typeface="Arial"/>
              <a:ea typeface="Arial"/>
              <a:cs typeface="Arial"/>
              <a:sym typeface="Arial"/>
            </a:endParaRPr>
          </a:p>
          <a:p>
            <a:pPr indent="0" lvl="0" marL="0" rtl="0" algn="l">
              <a:spcBef>
                <a:spcPts val="1200"/>
              </a:spcBef>
              <a:spcAft>
                <a:spcPts val="1200"/>
              </a:spcAft>
              <a:buNone/>
            </a:pPr>
            <a:r>
              <a:rPr lang="en">
                <a:latin typeface="Arial"/>
                <a:ea typeface="Arial"/>
                <a:cs typeface="Arial"/>
                <a:sym typeface="Arial"/>
              </a:rPr>
              <a:t>Safe up to 100000 enemies with detection cones at once. </a:t>
            </a:r>
            <a:endParaRPr>
              <a:latin typeface="Arial"/>
              <a:ea typeface="Arial"/>
              <a:cs typeface="Arial"/>
              <a:sym typeface="Arial"/>
            </a:endParaRPr>
          </a:p>
        </p:txBody>
      </p:sp>
      <p:pic>
        <p:nvPicPr>
          <p:cNvPr id="287" name="Google Shape;287;p35"/>
          <p:cNvPicPr preferRelativeResize="0"/>
          <p:nvPr/>
        </p:nvPicPr>
        <p:blipFill>
          <a:blip r:embed="rId3">
            <a:alphaModFix/>
          </a:blip>
          <a:stretch>
            <a:fillRect/>
          </a:stretch>
        </p:blipFill>
        <p:spPr>
          <a:xfrm>
            <a:off x="5317625" y="1001450"/>
            <a:ext cx="2787717" cy="357420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Initial Test Plan for Toads With Guns</a:t>
            </a:r>
            <a:endParaRPr/>
          </a:p>
        </p:txBody>
      </p:sp>
      <p:sp>
        <p:nvSpPr>
          <p:cNvPr id="293" name="Google Shape;293;p36"/>
          <p:cNvSpPr txBox="1"/>
          <p:nvPr>
            <p:ph idx="1" type="body"/>
          </p:nvPr>
        </p:nvSpPr>
        <p:spPr>
          <a:xfrm>
            <a:off x="1130175" y="1567550"/>
            <a:ext cx="3441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800"/>
              <a:t>Boundary Test:</a:t>
            </a:r>
            <a:endParaRPr sz="1800"/>
          </a:p>
          <a:p>
            <a:pPr indent="0" lvl="0" marL="0" rtl="0" algn="l">
              <a:spcBef>
                <a:spcPts val="1200"/>
              </a:spcBef>
              <a:spcAft>
                <a:spcPts val="0"/>
              </a:spcAft>
              <a:buNone/>
            </a:pPr>
            <a:r>
              <a:rPr lang="en"/>
              <a:t>Tests whether or not the game lets you buy tower upgrades</a:t>
            </a:r>
            <a:endParaRPr/>
          </a:p>
          <a:p>
            <a:pPr indent="-311150" lvl="0" marL="457200" rtl="0" algn="l">
              <a:spcBef>
                <a:spcPts val="1200"/>
              </a:spcBef>
              <a:spcAft>
                <a:spcPts val="0"/>
              </a:spcAft>
              <a:buSzPts val="1300"/>
              <a:buChar char="●"/>
            </a:pPr>
            <a:r>
              <a:rPr lang="en"/>
              <a:t>Too little money: can’t buy it</a:t>
            </a:r>
            <a:endParaRPr/>
          </a:p>
          <a:p>
            <a:pPr indent="-311150" lvl="0" marL="457200" rtl="0" algn="l">
              <a:spcBef>
                <a:spcPts val="0"/>
              </a:spcBef>
              <a:spcAft>
                <a:spcPts val="0"/>
              </a:spcAft>
              <a:buSzPts val="1300"/>
              <a:buChar char="●"/>
            </a:pPr>
            <a:r>
              <a:rPr lang="en"/>
              <a:t>Exact amount of money: can buy it</a:t>
            </a:r>
            <a:endParaRPr/>
          </a:p>
          <a:p>
            <a:pPr indent="-311150" lvl="0" marL="457200" rtl="0" algn="l">
              <a:spcBef>
                <a:spcPts val="0"/>
              </a:spcBef>
              <a:spcAft>
                <a:spcPts val="0"/>
              </a:spcAft>
              <a:buSzPts val="1300"/>
              <a:buChar char="●"/>
            </a:pPr>
            <a:r>
              <a:rPr lang="en"/>
              <a:t>Over the amount of money: can buy it</a:t>
            </a:r>
            <a:endParaRPr/>
          </a:p>
          <a:p>
            <a:pPr indent="0" lvl="0" marL="0" rtl="0" algn="l">
              <a:spcBef>
                <a:spcPts val="1200"/>
              </a:spcBef>
              <a:spcAft>
                <a:spcPts val="1200"/>
              </a:spcAft>
              <a:buNone/>
            </a:pPr>
            <a:r>
              <a:rPr lang="en"/>
              <a:t>Pass/fail: The fail condition is if you can buy it with too little </a:t>
            </a:r>
            <a:r>
              <a:rPr lang="en"/>
              <a:t>money, or can’t buy it with enough or over the requisite amount.</a:t>
            </a:r>
            <a:endParaRPr sz="1800"/>
          </a:p>
        </p:txBody>
      </p:sp>
      <p:sp>
        <p:nvSpPr>
          <p:cNvPr id="294" name="Google Shape;294;p36"/>
          <p:cNvSpPr txBox="1"/>
          <p:nvPr>
            <p:ph type="title"/>
          </p:nvPr>
        </p:nvSpPr>
        <p:spPr>
          <a:xfrm>
            <a:off x="346925" y="4575650"/>
            <a:ext cx="8598000" cy="362700"/>
          </a:xfrm>
          <a:prstGeom prst="rect">
            <a:avLst/>
          </a:prstGeom>
        </p:spPr>
        <p:txBody>
          <a:bodyPr anchorCtr="0" anchor="t" bIns="91425" lIns="91425" spcFirstLastPara="1" rIns="91425" wrap="square" tIns="91425">
            <a:normAutofit fontScale="90000"/>
          </a:bodyPr>
          <a:lstStyle/>
          <a:p>
            <a:pPr indent="0" lvl="0" marL="0" rtl="0" algn="r">
              <a:spcBef>
                <a:spcPts val="0"/>
              </a:spcBef>
              <a:spcAft>
                <a:spcPts val="0"/>
              </a:spcAft>
              <a:buNone/>
            </a:pPr>
            <a:r>
              <a:rPr lang="en" sz="1400"/>
              <a:t>Presenter: </a:t>
            </a:r>
            <a:r>
              <a:rPr b="1" lang="en" sz="1400"/>
              <a:t>Zach Current</a:t>
            </a:r>
            <a:endParaRPr b="1" sz="1400"/>
          </a:p>
        </p:txBody>
      </p:sp>
      <p:pic>
        <p:nvPicPr>
          <p:cNvPr id="295" name="Google Shape;295;p36"/>
          <p:cNvPicPr preferRelativeResize="0"/>
          <p:nvPr/>
        </p:nvPicPr>
        <p:blipFill>
          <a:blip r:embed="rId3">
            <a:alphaModFix/>
          </a:blip>
          <a:stretch>
            <a:fillRect/>
          </a:stretch>
        </p:blipFill>
        <p:spPr>
          <a:xfrm>
            <a:off x="5280950" y="853475"/>
            <a:ext cx="3260276" cy="372217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3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Initial Test Plan for Toads With Guns</a:t>
            </a:r>
            <a:endParaRPr/>
          </a:p>
        </p:txBody>
      </p:sp>
      <p:sp>
        <p:nvSpPr>
          <p:cNvPr id="301" name="Google Shape;301;p37"/>
          <p:cNvSpPr txBox="1"/>
          <p:nvPr>
            <p:ph idx="1" type="body"/>
          </p:nvPr>
        </p:nvSpPr>
        <p:spPr>
          <a:xfrm>
            <a:off x="1297500" y="1567550"/>
            <a:ext cx="3274500" cy="2911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sz="1800"/>
              <a:t>Stress Test:</a:t>
            </a:r>
            <a:endParaRPr sz="1050"/>
          </a:p>
          <a:p>
            <a:pPr indent="0" lvl="0" marL="0" rtl="0" algn="l">
              <a:lnSpc>
                <a:spcPct val="135714"/>
              </a:lnSpc>
              <a:spcBef>
                <a:spcPts val="1200"/>
              </a:spcBef>
              <a:spcAft>
                <a:spcPts val="0"/>
              </a:spcAft>
              <a:buNone/>
            </a:pPr>
            <a:r>
              <a:rPr lang="en" sz="1050"/>
              <a:t>What it tests:     Simultaneous enemy and tower load without simulation breakdown.</a:t>
            </a:r>
            <a:endParaRPr sz="1050"/>
          </a:p>
          <a:p>
            <a:pPr indent="0" lvl="0" marL="0" rtl="0" algn="l">
              <a:lnSpc>
                <a:spcPct val="135714"/>
              </a:lnSpc>
              <a:spcBef>
                <a:spcPts val="0"/>
              </a:spcBef>
              <a:spcAft>
                <a:spcPts val="0"/>
              </a:spcAft>
              <a:buNone/>
            </a:pPr>
            <a:r>
              <a:t/>
            </a:r>
            <a:endParaRPr sz="1050"/>
          </a:p>
          <a:p>
            <a:pPr indent="0" lvl="0" marL="0" rtl="0" algn="l">
              <a:lnSpc>
                <a:spcPct val="135714"/>
              </a:lnSpc>
              <a:spcBef>
                <a:spcPts val="0"/>
              </a:spcBef>
              <a:spcAft>
                <a:spcPts val="0"/>
              </a:spcAft>
              <a:buNone/>
            </a:pPr>
            <a:r>
              <a:rPr lang="en" sz="1050"/>
              <a:t>Passing condition: Frame time &lt;=33ms and zero pathfinding failures at every wave size.</a:t>
            </a:r>
            <a:endParaRPr sz="1050"/>
          </a:p>
          <a:p>
            <a:pPr indent="0" lvl="0" marL="0" rtl="0" algn="l">
              <a:lnSpc>
                <a:spcPct val="135714"/>
              </a:lnSpc>
              <a:spcBef>
                <a:spcPts val="0"/>
              </a:spcBef>
              <a:spcAft>
                <a:spcPts val="0"/>
              </a:spcAft>
              <a:buNone/>
            </a:pPr>
            <a:r>
              <a:t/>
            </a:r>
            <a:endParaRPr sz="1050"/>
          </a:p>
          <a:p>
            <a:pPr indent="0" lvl="0" marL="0" rtl="0" algn="l">
              <a:lnSpc>
                <a:spcPct val="135714"/>
              </a:lnSpc>
              <a:spcBef>
                <a:spcPts val="0"/>
              </a:spcBef>
              <a:spcAft>
                <a:spcPts val="0"/>
              </a:spcAft>
              <a:buNone/>
            </a:pPr>
            <a:r>
              <a:rPr lang="en" sz="1050"/>
              <a:t>Ramping up:  25 -&gt; 100 -&gt; 300 -&gt; 600 enemies, towers scale alongside each wave. After 600 enemies keep doubling until something breaks.</a:t>
            </a:r>
            <a:endParaRPr sz="1050"/>
          </a:p>
          <a:p>
            <a:pPr indent="0" lvl="0" marL="0" rtl="0" algn="l">
              <a:lnSpc>
                <a:spcPct val="135714"/>
              </a:lnSpc>
              <a:spcBef>
                <a:spcPts val="0"/>
              </a:spcBef>
              <a:spcAft>
                <a:spcPts val="0"/>
              </a:spcAft>
              <a:buNone/>
            </a:pPr>
            <a:r>
              <a:t/>
            </a:r>
            <a:endParaRPr sz="1050"/>
          </a:p>
          <a:p>
            <a:pPr indent="0" lvl="0" marL="0" rtl="0" algn="l">
              <a:lnSpc>
                <a:spcPct val="135714"/>
              </a:lnSpc>
              <a:spcBef>
                <a:spcPts val="0"/>
              </a:spcBef>
              <a:spcAft>
                <a:spcPts val="0"/>
              </a:spcAft>
              <a:buNone/>
            </a:pPr>
            <a:r>
              <a:rPr lang="en" sz="1050"/>
              <a:t>Breaking point:    First wave where frame time exceeds 33ms or pathfinding failures exceed 0.</a:t>
            </a:r>
            <a:endParaRPr/>
          </a:p>
        </p:txBody>
      </p:sp>
      <p:sp>
        <p:nvSpPr>
          <p:cNvPr id="302" name="Google Shape;302;p37"/>
          <p:cNvSpPr txBox="1"/>
          <p:nvPr>
            <p:ph type="title"/>
          </p:nvPr>
        </p:nvSpPr>
        <p:spPr>
          <a:xfrm>
            <a:off x="346925" y="4575650"/>
            <a:ext cx="8598000" cy="362700"/>
          </a:xfrm>
          <a:prstGeom prst="rect">
            <a:avLst/>
          </a:prstGeom>
        </p:spPr>
        <p:txBody>
          <a:bodyPr anchorCtr="0" anchor="t" bIns="91425" lIns="91425" spcFirstLastPara="1" rIns="91425" wrap="square" tIns="91425">
            <a:normAutofit fontScale="90000"/>
          </a:bodyPr>
          <a:lstStyle/>
          <a:p>
            <a:pPr indent="0" lvl="0" marL="0" rtl="0" algn="r">
              <a:spcBef>
                <a:spcPts val="0"/>
              </a:spcBef>
              <a:spcAft>
                <a:spcPts val="0"/>
              </a:spcAft>
              <a:buNone/>
            </a:pPr>
            <a:r>
              <a:rPr lang="en" sz="1400"/>
              <a:t>Presenter: </a:t>
            </a:r>
            <a:r>
              <a:rPr b="1" lang="en" sz="1400"/>
              <a:t>Zach Current</a:t>
            </a:r>
            <a:endParaRPr b="1" sz="1400"/>
          </a:p>
        </p:txBody>
      </p:sp>
      <p:pic>
        <p:nvPicPr>
          <p:cNvPr id="303" name="Google Shape;303;p37"/>
          <p:cNvPicPr preferRelativeResize="0"/>
          <p:nvPr/>
        </p:nvPicPr>
        <p:blipFill>
          <a:blip r:embed="rId3">
            <a:alphaModFix/>
          </a:blip>
          <a:stretch>
            <a:fillRect/>
          </a:stretch>
        </p:blipFill>
        <p:spPr>
          <a:xfrm>
            <a:off x="4572000" y="1075775"/>
            <a:ext cx="4474077" cy="32294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3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Initial Test Plan for ET’s Pizzeria</a:t>
            </a:r>
            <a:endParaRPr/>
          </a:p>
        </p:txBody>
      </p:sp>
      <p:sp>
        <p:nvSpPr>
          <p:cNvPr id="309" name="Google Shape;309;p38"/>
          <p:cNvSpPr txBox="1"/>
          <p:nvPr>
            <p:ph idx="1" type="body"/>
          </p:nvPr>
        </p:nvSpPr>
        <p:spPr>
          <a:xfrm>
            <a:off x="209750" y="2273175"/>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800">
                <a:latin typeface="Arial"/>
                <a:ea typeface="Arial"/>
                <a:cs typeface="Arial"/>
                <a:sym typeface="Arial"/>
              </a:rPr>
              <a:t>Boundary Test:</a:t>
            </a:r>
            <a:endParaRPr b="1" sz="1800">
              <a:latin typeface="Arial"/>
              <a:ea typeface="Arial"/>
              <a:cs typeface="Arial"/>
              <a:sym typeface="Arial"/>
            </a:endParaRPr>
          </a:p>
          <a:p>
            <a:pPr indent="0" lvl="0" marL="0" rtl="0" algn="l">
              <a:spcBef>
                <a:spcPts val="1200"/>
              </a:spcBef>
              <a:spcAft>
                <a:spcPts val="0"/>
              </a:spcAft>
              <a:buNone/>
            </a:pPr>
            <a:r>
              <a:rPr lang="en" sz="1100">
                <a:latin typeface="Arial"/>
                <a:ea typeface="Arial"/>
                <a:cs typeface="Arial"/>
                <a:sym typeface="Arial"/>
              </a:rPr>
              <a:t>Tests cookTime &gt;= perfectCookTime </a:t>
            </a:r>
            <a:r>
              <a:rPr lang="en" sz="1100">
                <a:latin typeface="Arial"/>
                <a:ea typeface="Arial"/>
                <a:cs typeface="Arial"/>
                <a:sym typeface="Arial"/>
              </a:rPr>
              <a:t>threshold</a:t>
            </a:r>
            <a:r>
              <a:rPr lang="en" sz="1100">
                <a:latin typeface="Arial"/>
                <a:ea typeface="Arial"/>
                <a:cs typeface="Arial"/>
                <a:sym typeface="Arial"/>
              </a:rPr>
              <a:t> in PizzaBakingStation</a:t>
            </a:r>
            <a:endParaRPr sz="1100">
              <a:latin typeface="Arial"/>
              <a:ea typeface="Arial"/>
              <a:cs typeface="Arial"/>
              <a:sym typeface="Arial"/>
            </a:endParaRPr>
          </a:p>
          <a:p>
            <a:pPr indent="-298450" lvl="0" marL="457200" rtl="0" algn="l">
              <a:spcBef>
                <a:spcPts val="1200"/>
              </a:spcBef>
              <a:spcAft>
                <a:spcPts val="0"/>
              </a:spcAft>
              <a:buSzPts val="1100"/>
              <a:buFont typeface="Arial"/>
              <a:buChar char="●"/>
            </a:pPr>
            <a:r>
              <a:rPr lang="en" sz="1100">
                <a:latin typeface="Arial"/>
                <a:ea typeface="Arial"/>
                <a:cs typeface="Arial"/>
                <a:sym typeface="Arial"/>
              </a:rPr>
              <a:t>29 seconds will NOT trigger PerfectPizza</a:t>
            </a: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lang="en" sz="1100">
                <a:latin typeface="Arial"/>
                <a:ea typeface="Arial"/>
                <a:cs typeface="Arial"/>
                <a:sym typeface="Arial"/>
              </a:rPr>
              <a:t>30 seconds SHOULD trigger PerfectPizza</a:t>
            </a: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lang="en" sz="1100">
                <a:latin typeface="Arial"/>
                <a:ea typeface="Arial"/>
                <a:cs typeface="Arial"/>
                <a:sym typeface="Arial"/>
              </a:rPr>
              <a:t>35 seconds SHOULD trigger PerfectPizza</a:t>
            </a:r>
            <a:endParaRPr sz="1100">
              <a:latin typeface="Arial"/>
              <a:ea typeface="Arial"/>
              <a:cs typeface="Arial"/>
              <a:sym typeface="Arial"/>
            </a:endParaRPr>
          </a:p>
          <a:p>
            <a:pPr indent="0" lvl="0" marL="0" rtl="0" algn="l">
              <a:spcBef>
                <a:spcPts val="1200"/>
              </a:spcBef>
              <a:spcAft>
                <a:spcPts val="0"/>
              </a:spcAft>
              <a:buNone/>
            </a:pPr>
            <a:r>
              <a:t/>
            </a:r>
            <a:endParaRPr sz="1100">
              <a:latin typeface="Arial"/>
              <a:ea typeface="Arial"/>
              <a:cs typeface="Arial"/>
              <a:sym typeface="Arial"/>
            </a:endParaRPr>
          </a:p>
          <a:p>
            <a:pPr indent="0" lvl="0" marL="0" rtl="0" algn="l">
              <a:spcBef>
                <a:spcPts val="1200"/>
              </a:spcBef>
              <a:spcAft>
                <a:spcPts val="0"/>
              </a:spcAft>
              <a:buNone/>
            </a:pPr>
            <a:r>
              <a:rPr lang="en" sz="1100">
                <a:latin typeface="Arial"/>
                <a:ea typeface="Arial"/>
                <a:cs typeface="Arial"/>
                <a:sym typeface="Arial"/>
              </a:rPr>
              <a:t>Pass/Fail: Each test case runs the assertion which gives clearly labeled pass/fail message:</a:t>
            </a:r>
            <a:endParaRPr sz="1100">
              <a:latin typeface="Arial"/>
              <a:ea typeface="Arial"/>
              <a:cs typeface="Arial"/>
              <a:sym typeface="Arial"/>
            </a:endParaRPr>
          </a:p>
          <a:p>
            <a:pPr indent="0" lvl="0" marL="0" rtl="0" algn="l">
              <a:spcBef>
                <a:spcPts val="1200"/>
              </a:spcBef>
              <a:spcAft>
                <a:spcPts val="1200"/>
              </a:spcAft>
              <a:buNone/>
            </a:pPr>
            <a:r>
              <a:rPr lang="en" sz="1100">
                <a:latin typeface="Arial"/>
                <a:ea typeface="Arial"/>
                <a:cs typeface="Arial"/>
                <a:sym typeface="Arial"/>
              </a:rPr>
              <a:t>“Cook time of X seconds should have resulted in PerfectPizza: T/F”</a:t>
            </a:r>
            <a:endParaRPr sz="1100">
              <a:latin typeface="Arial"/>
              <a:ea typeface="Arial"/>
              <a:cs typeface="Arial"/>
              <a:sym typeface="Arial"/>
            </a:endParaRPr>
          </a:p>
        </p:txBody>
      </p:sp>
      <p:sp>
        <p:nvSpPr>
          <p:cNvPr id="310" name="Google Shape;310;p38"/>
          <p:cNvSpPr txBox="1"/>
          <p:nvPr>
            <p:ph type="title"/>
          </p:nvPr>
        </p:nvSpPr>
        <p:spPr>
          <a:xfrm>
            <a:off x="346925" y="4575650"/>
            <a:ext cx="8598000" cy="362700"/>
          </a:xfrm>
          <a:prstGeom prst="rect">
            <a:avLst/>
          </a:prstGeom>
        </p:spPr>
        <p:txBody>
          <a:bodyPr anchorCtr="0" anchor="t" bIns="91425" lIns="91425" spcFirstLastPara="1" rIns="91425" wrap="square" tIns="91425">
            <a:normAutofit fontScale="90000"/>
          </a:bodyPr>
          <a:lstStyle/>
          <a:p>
            <a:pPr indent="0" lvl="0" marL="0" rtl="0" algn="r">
              <a:spcBef>
                <a:spcPts val="0"/>
              </a:spcBef>
              <a:spcAft>
                <a:spcPts val="0"/>
              </a:spcAft>
              <a:buNone/>
            </a:pPr>
            <a:r>
              <a:rPr lang="en" sz="1400"/>
              <a:t>Presenter: </a:t>
            </a:r>
            <a:r>
              <a:rPr b="1" lang="en" sz="1400"/>
              <a:t>Leo Nelson</a:t>
            </a:r>
            <a:endParaRPr b="1" sz="1400"/>
          </a:p>
        </p:txBody>
      </p:sp>
      <p:pic>
        <p:nvPicPr>
          <p:cNvPr id="311" name="Google Shape;311;p38"/>
          <p:cNvPicPr preferRelativeResize="0"/>
          <p:nvPr/>
        </p:nvPicPr>
        <p:blipFill>
          <a:blip r:embed="rId3">
            <a:alphaModFix/>
          </a:blip>
          <a:stretch>
            <a:fillRect/>
          </a:stretch>
        </p:blipFill>
        <p:spPr>
          <a:xfrm>
            <a:off x="4758025" y="1454800"/>
            <a:ext cx="4091824" cy="23861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39"/>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Initial Test Plan for ET’s Pizzeria</a:t>
            </a:r>
            <a:endParaRPr/>
          </a:p>
          <a:p>
            <a:pPr indent="0" lvl="0" marL="0" rtl="0" algn="l">
              <a:spcBef>
                <a:spcPts val="0"/>
              </a:spcBef>
              <a:spcAft>
                <a:spcPts val="0"/>
              </a:spcAft>
              <a:buNone/>
            </a:pPr>
            <a:r>
              <a:t/>
            </a:r>
            <a:endParaRPr/>
          </a:p>
        </p:txBody>
      </p:sp>
      <p:sp>
        <p:nvSpPr>
          <p:cNvPr id="317" name="Google Shape;317;p39"/>
          <p:cNvSpPr txBox="1"/>
          <p:nvPr>
            <p:ph idx="1" type="body"/>
          </p:nvPr>
        </p:nvSpPr>
        <p:spPr>
          <a:xfrm>
            <a:off x="0" y="1472150"/>
            <a:ext cx="6455100" cy="3337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800"/>
              <a:t>Stress Test:</a:t>
            </a:r>
            <a:endParaRPr sz="1100"/>
          </a:p>
          <a:p>
            <a:pPr indent="0" lvl="0" marL="0" rtl="0" algn="l">
              <a:spcBef>
                <a:spcPts val="1200"/>
              </a:spcBef>
              <a:spcAft>
                <a:spcPts val="0"/>
              </a:spcAft>
              <a:buNone/>
            </a:pPr>
            <a:r>
              <a:rPr lang="en" sz="1100"/>
              <a:t>PIZZA_COUNT represents the number of pizzas that is being processed in the oven. The test will increase the number of pizzas in the oven to determine how many pizzas the game can handle before performance unity gives up.</a:t>
            </a:r>
            <a:endParaRPr sz="1100"/>
          </a:p>
          <a:p>
            <a:pPr indent="0" lvl="0" marL="0" rtl="0" algn="l">
              <a:spcBef>
                <a:spcPts val="1200"/>
              </a:spcBef>
              <a:spcAft>
                <a:spcPts val="0"/>
              </a:spcAft>
              <a:buNone/>
            </a:pPr>
            <a:r>
              <a:rPr lang="en" sz="1100"/>
              <a:t>Start at 10 - 100 - 500</a:t>
            </a:r>
            <a:endParaRPr sz="1100"/>
          </a:p>
          <a:p>
            <a:pPr indent="0" lvl="0" marL="0" rtl="0" algn="l">
              <a:spcBef>
                <a:spcPts val="1200"/>
              </a:spcBef>
              <a:spcAft>
                <a:spcPts val="0"/>
              </a:spcAft>
              <a:buNone/>
            </a:pPr>
            <a:r>
              <a:rPr lang="en" sz="1100"/>
              <a:t>System starts performance issues at 500 pizzas so that is the stress break point.</a:t>
            </a:r>
            <a:endParaRPr sz="1100"/>
          </a:p>
          <a:p>
            <a:pPr indent="0" lvl="0" marL="0" rtl="0" algn="l">
              <a:spcBef>
                <a:spcPts val="1200"/>
              </a:spcBef>
              <a:spcAft>
                <a:spcPts val="1200"/>
              </a:spcAft>
              <a:buNone/>
            </a:pPr>
            <a:r>
              <a:t/>
            </a:r>
            <a:endParaRPr sz="1100"/>
          </a:p>
        </p:txBody>
      </p:sp>
      <p:pic>
        <p:nvPicPr>
          <p:cNvPr id="318" name="Google Shape;318;p39"/>
          <p:cNvPicPr preferRelativeResize="0"/>
          <p:nvPr/>
        </p:nvPicPr>
        <p:blipFill>
          <a:blip r:embed="rId3">
            <a:alphaModFix/>
          </a:blip>
          <a:stretch>
            <a:fillRect/>
          </a:stretch>
        </p:blipFill>
        <p:spPr>
          <a:xfrm>
            <a:off x="6207100" y="969875"/>
            <a:ext cx="2846851" cy="3132250"/>
          </a:xfrm>
          <a:prstGeom prst="rect">
            <a:avLst/>
          </a:prstGeom>
          <a:noFill/>
          <a:ln>
            <a:noFill/>
          </a:ln>
        </p:spPr>
      </p:pic>
      <p:sp>
        <p:nvSpPr>
          <p:cNvPr id="319" name="Google Shape;319;p39"/>
          <p:cNvSpPr txBox="1"/>
          <p:nvPr>
            <p:ph type="title"/>
          </p:nvPr>
        </p:nvSpPr>
        <p:spPr>
          <a:xfrm>
            <a:off x="455950" y="4639250"/>
            <a:ext cx="8598000" cy="362700"/>
          </a:xfrm>
          <a:prstGeom prst="rect">
            <a:avLst/>
          </a:prstGeom>
        </p:spPr>
        <p:txBody>
          <a:bodyPr anchorCtr="0" anchor="t" bIns="91425" lIns="91425" spcFirstLastPara="1" rIns="91425" wrap="square" tIns="91425">
            <a:normAutofit fontScale="90000"/>
          </a:bodyPr>
          <a:lstStyle/>
          <a:p>
            <a:pPr indent="0" lvl="0" marL="0" rtl="0" algn="r">
              <a:spcBef>
                <a:spcPts val="0"/>
              </a:spcBef>
              <a:spcAft>
                <a:spcPts val="0"/>
              </a:spcAft>
              <a:buNone/>
            </a:pPr>
            <a:r>
              <a:rPr lang="en" sz="1400"/>
              <a:t>Presenter: </a:t>
            </a:r>
            <a:r>
              <a:rPr b="1" lang="en" sz="1400"/>
              <a:t>Leo Nelson</a:t>
            </a:r>
            <a:endParaRPr b="1" sz="14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4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Initial Test Plan for Starfish Studios</a:t>
            </a:r>
            <a:endParaRPr/>
          </a:p>
        </p:txBody>
      </p:sp>
      <p:sp>
        <p:nvSpPr>
          <p:cNvPr id="325" name="Google Shape;325;p40"/>
          <p:cNvSpPr txBox="1"/>
          <p:nvPr>
            <p:ph idx="1" type="body"/>
          </p:nvPr>
        </p:nvSpPr>
        <p:spPr>
          <a:xfrm>
            <a:off x="1297500" y="1567550"/>
            <a:ext cx="3274500" cy="29112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sz="1800"/>
              <a:t>Boundary Test:</a:t>
            </a:r>
            <a:endParaRPr sz="1800"/>
          </a:p>
          <a:p>
            <a:pPr indent="0" lvl="0" marL="0" rtl="0" algn="l">
              <a:spcBef>
                <a:spcPts val="1200"/>
              </a:spcBef>
              <a:spcAft>
                <a:spcPts val="0"/>
              </a:spcAft>
              <a:buNone/>
            </a:pPr>
            <a:r>
              <a:rPr lang="en"/>
              <a:t>Tests riskVal&gt;=100 game over threshold in ArrestStats</a:t>
            </a:r>
            <a:endParaRPr/>
          </a:p>
          <a:p>
            <a:pPr indent="-304958" lvl="0" marL="457200" rtl="0" algn="l">
              <a:spcBef>
                <a:spcPts val="1200"/>
              </a:spcBef>
              <a:spcAft>
                <a:spcPts val="0"/>
              </a:spcAft>
              <a:buSzPct val="100000"/>
              <a:buChar char="●"/>
            </a:pPr>
            <a:r>
              <a:rPr lang="en"/>
              <a:t>99 should not trigger gameOver</a:t>
            </a:r>
            <a:endParaRPr/>
          </a:p>
          <a:p>
            <a:pPr indent="-304958" lvl="0" marL="457200" rtl="0" algn="l">
              <a:spcBef>
                <a:spcPts val="0"/>
              </a:spcBef>
              <a:spcAft>
                <a:spcPts val="0"/>
              </a:spcAft>
              <a:buSzPct val="100000"/>
              <a:buChar char="●"/>
            </a:pPr>
            <a:r>
              <a:rPr lang="en"/>
              <a:t>100 should trigger gameOver</a:t>
            </a:r>
            <a:endParaRPr/>
          </a:p>
          <a:p>
            <a:pPr indent="-304958" lvl="0" marL="457200" rtl="0" algn="l">
              <a:spcBef>
                <a:spcPts val="0"/>
              </a:spcBef>
              <a:spcAft>
                <a:spcPts val="0"/>
              </a:spcAft>
              <a:buSzPct val="100000"/>
              <a:buChar char="●"/>
            </a:pPr>
            <a:r>
              <a:rPr lang="en"/>
              <a:t>105 should trigger gameOver</a:t>
            </a:r>
            <a:endParaRPr/>
          </a:p>
          <a:p>
            <a:pPr indent="0" lvl="0" marL="0" rtl="0" algn="l">
              <a:spcBef>
                <a:spcPts val="1200"/>
              </a:spcBef>
              <a:spcAft>
                <a:spcPts val="0"/>
              </a:spcAft>
              <a:buNone/>
            </a:pPr>
            <a:r>
              <a:rPr lang="en"/>
              <a:t>Pass/fail: Each test case runs the assertion giving a clear labeled pass or fail message “Risk of X should have resulted in gameOver: true/false”</a:t>
            </a:r>
            <a:endParaRPr/>
          </a:p>
          <a:p>
            <a:pPr indent="0" lvl="0" marL="0" rtl="0" algn="l">
              <a:spcBef>
                <a:spcPts val="1200"/>
              </a:spcBef>
              <a:spcAft>
                <a:spcPts val="1200"/>
              </a:spcAft>
              <a:buNone/>
            </a:pPr>
            <a:r>
              <a:t/>
            </a:r>
            <a:endParaRPr sz="1800"/>
          </a:p>
        </p:txBody>
      </p:sp>
      <p:pic>
        <p:nvPicPr>
          <p:cNvPr id="326" name="Google Shape;326;p40" title="boundaryTest.png"/>
          <p:cNvPicPr preferRelativeResize="0"/>
          <p:nvPr/>
        </p:nvPicPr>
        <p:blipFill>
          <a:blip r:embed="rId3">
            <a:alphaModFix/>
          </a:blip>
          <a:stretch>
            <a:fillRect/>
          </a:stretch>
        </p:blipFill>
        <p:spPr>
          <a:xfrm>
            <a:off x="4724400" y="1460250"/>
            <a:ext cx="4267199" cy="1800985"/>
          </a:xfrm>
          <a:prstGeom prst="rect">
            <a:avLst/>
          </a:prstGeom>
          <a:noFill/>
          <a:ln>
            <a:noFill/>
          </a:ln>
        </p:spPr>
      </p:pic>
      <p:sp>
        <p:nvSpPr>
          <p:cNvPr id="327" name="Google Shape;327;p40"/>
          <p:cNvSpPr txBox="1"/>
          <p:nvPr>
            <p:ph type="title"/>
          </p:nvPr>
        </p:nvSpPr>
        <p:spPr>
          <a:xfrm>
            <a:off x="346925" y="4575650"/>
            <a:ext cx="8598000" cy="362700"/>
          </a:xfrm>
          <a:prstGeom prst="rect">
            <a:avLst/>
          </a:prstGeom>
        </p:spPr>
        <p:txBody>
          <a:bodyPr anchorCtr="0" anchor="t" bIns="91425" lIns="91425" spcFirstLastPara="1" rIns="91425" wrap="square" tIns="91425">
            <a:normAutofit fontScale="90000"/>
          </a:bodyPr>
          <a:lstStyle/>
          <a:p>
            <a:pPr indent="0" lvl="0" marL="0" rtl="0" algn="r">
              <a:spcBef>
                <a:spcPts val="0"/>
              </a:spcBef>
              <a:spcAft>
                <a:spcPts val="0"/>
              </a:spcAft>
              <a:buNone/>
            </a:pPr>
            <a:r>
              <a:rPr lang="en" sz="1400"/>
              <a:t>Presenter: </a:t>
            </a:r>
            <a:r>
              <a:rPr b="1" lang="en" sz="1400"/>
              <a:t>Kade McRae</a:t>
            </a:r>
            <a:endParaRPr b="1" sz="14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41"/>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Initial Test Plan for Starfish Studios</a:t>
            </a:r>
            <a:endParaRPr/>
          </a:p>
        </p:txBody>
      </p:sp>
      <p:sp>
        <p:nvSpPr>
          <p:cNvPr id="333" name="Google Shape;333;p41"/>
          <p:cNvSpPr txBox="1"/>
          <p:nvPr>
            <p:ph idx="1" type="body"/>
          </p:nvPr>
        </p:nvSpPr>
        <p:spPr>
          <a:xfrm>
            <a:off x="1297500" y="1567550"/>
            <a:ext cx="3274500" cy="2911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sz="1800"/>
              <a:t>Stress</a:t>
            </a:r>
            <a:r>
              <a:rPr lang="en" sz="1800"/>
              <a:t> Test:</a:t>
            </a:r>
            <a:endParaRPr sz="1800"/>
          </a:p>
          <a:p>
            <a:pPr indent="0" lvl="0" marL="0" rtl="0" algn="l">
              <a:spcBef>
                <a:spcPts val="1200"/>
              </a:spcBef>
              <a:spcAft>
                <a:spcPts val="0"/>
              </a:spcAft>
              <a:buNone/>
            </a:pPr>
            <a:r>
              <a:rPr lang="en"/>
              <a:t>INSTANCE_COUNT are the amount of iterations the code runs, we want to see how many of these before the game </a:t>
            </a:r>
            <a:r>
              <a:rPr b="1" lang="en"/>
              <a:t>BREAKS</a:t>
            </a:r>
            <a:endParaRPr b="1"/>
          </a:p>
          <a:p>
            <a:pPr indent="0" lvl="0" marL="0" rtl="0" algn="l">
              <a:spcBef>
                <a:spcPts val="1200"/>
              </a:spcBef>
              <a:spcAft>
                <a:spcPts val="0"/>
              </a:spcAft>
              <a:buNone/>
            </a:pPr>
            <a:r>
              <a:rPr lang="en"/>
              <a:t>Started at 10 -&gt; 100 -&gt; 1000</a:t>
            </a:r>
            <a:endParaRPr/>
          </a:p>
          <a:p>
            <a:pPr indent="0" lvl="0" marL="0" rtl="0" algn="l">
              <a:spcBef>
                <a:spcPts val="1200"/>
              </a:spcBef>
              <a:spcAft>
                <a:spcPts val="0"/>
              </a:spcAft>
              <a:buNone/>
            </a:pPr>
            <a:r>
              <a:rPr lang="en"/>
              <a:t>Out of memory errors </a:t>
            </a:r>
            <a:r>
              <a:rPr lang="en"/>
              <a:t>occurred</a:t>
            </a:r>
            <a:r>
              <a:rPr lang="en"/>
              <a:t> at 1000</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sz="1800"/>
          </a:p>
        </p:txBody>
      </p:sp>
      <p:pic>
        <p:nvPicPr>
          <p:cNvPr id="334" name="Google Shape;334;p41" title="stressTest.png"/>
          <p:cNvPicPr preferRelativeResize="0"/>
          <p:nvPr/>
        </p:nvPicPr>
        <p:blipFill>
          <a:blip r:embed="rId3">
            <a:alphaModFix/>
          </a:blip>
          <a:stretch>
            <a:fillRect/>
          </a:stretch>
        </p:blipFill>
        <p:spPr>
          <a:xfrm>
            <a:off x="4724400" y="1122689"/>
            <a:ext cx="3238027" cy="3530850"/>
          </a:xfrm>
          <a:prstGeom prst="rect">
            <a:avLst/>
          </a:prstGeom>
          <a:noFill/>
          <a:ln>
            <a:noFill/>
          </a:ln>
        </p:spPr>
      </p:pic>
      <p:sp>
        <p:nvSpPr>
          <p:cNvPr id="335" name="Google Shape;335;p41"/>
          <p:cNvSpPr txBox="1"/>
          <p:nvPr>
            <p:ph type="title"/>
          </p:nvPr>
        </p:nvSpPr>
        <p:spPr>
          <a:xfrm>
            <a:off x="346925" y="4575650"/>
            <a:ext cx="8598000" cy="362700"/>
          </a:xfrm>
          <a:prstGeom prst="rect">
            <a:avLst/>
          </a:prstGeom>
        </p:spPr>
        <p:txBody>
          <a:bodyPr anchorCtr="0" anchor="t" bIns="91425" lIns="91425" spcFirstLastPara="1" rIns="91425" wrap="square" tIns="91425">
            <a:normAutofit fontScale="90000"/>
          </a:bodyPr>
          <a:lstStyle/>
          <a:p>
            <a:pPr indent="0" lvl="0" marL="0" rtl="0" algn="r">
              <a:spcBef>
                <a:spcPts val="0"/>
              </a:spcBef>
              <a:spcAft>
                <a:spcPts val="0"/>
              </a:spcAft>
              <a:buNone/>
            </a:pPr>
            <a:r>
              <a:rPr lang="en" sz="1400"/>
              <a:t>Presenter: </a:t>
            </a:r>
            <a:r>
              <a:rPr b="1" lang="en" sz="1400"/>
              <a:t>Kade McRae</a:t>
            </a:r>
            <a:endParaRPr b="1" sz="14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42"/>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Design Patterns &amp; The Gang of Four</a:t>
            </a:r>
            <a:endParaRPr/>
          </a:p>
        </p:txBody>
      </p:sp>
      <p:sp>
        <p:nvSpPr>
          <p:cNvPr id="341" name="Google Shape;341;p42"/>
          <p:cNvSpPr txBox="1"/>
          <p:nvPr>
            <p:ph type="title"/>
          </p:nvPr>
        </p:nvSpPr>
        <p:spPr>
          <a:xfrm>
            <a:off x="346925" y="4575650"/>
            <a:ext cx="8598000" cy="362700"/>
          </a:xfrm>
          <a:prstGeom prst="rect">
            <a:avLst/>
          </a:prstGeom>
        </p:spPr>
        <p:txBody>
          <a:bodyPr anchorCtr="0" anchor="ctr" bIns="91425" lIns="91425" spcFirstLastPara="1" rIns="91425" wrap="square" tIns="91425">
            <a:normAutofit fontScale="90000"/>
          </a:bodyPr>
          <a:lstStyle/>
          <a:p>
            <a:pPr indent="0" lvl="0" marL="0" rtl="0" algn="r">
              <a:spcBef>
                <a:spcPts val="0"/>
              </a:spcBef>
              <a:spcAft>
                <a:spcPts val="0"/>
              </a:spcAft>
              <a:buNone/>
            </a:pPr>
            <a:r>
              <a:rPr lang="en" sz="1400"/>
              <a:t>Presenter: </a:t>
            </a:r>
            <a:r>
              <a:rPr b="1" lang="en" sz="1400"/>
              <a:t>Brandon Lunney</a:t>
            </a:r>
            <a:endParaRPr b="1" sz="14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43"/>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What are Design Patterns?</a:t>
            </a:r>
            <a:endParaRPr/>
          </a:p>
        </p:txBody>
      </p:sp>
      <p:sp>
        <p:nvSpPr>
          <p:cNvPr id="347" name="Google Shape;347;p43"/>
          <p:cNvSpPr txBox="1"/>
          <p:nvPr>
            <p:ph idx="1" type="body"/>
          </p:nvPr>
        </p:nvSpPr>
        <p:spPr>
          <a:xfrm>
            <a:off x="1297500" y="1072525"/>
            <a:ext cx="7038900" cy="3406200"/>
          </a:xfrm>
          <a:prstGeom prst="rect">
            <a:avLst/>
          </a:prstGeom>
        </p:spPr>
        <p:txBody>
          <a:bodyPr anchorCtr="0" anchor="t" bIns="91425" lIns="91425" spcFirstLastPara="1" rIns="91425" wrap="square" tIns="91425">
            <a:normAutofit lnSpcReduction="20000"/>
          </a:bodyPr>
          <a:lstStyle/>
          <a:p>
            <a:pPr indent="-349250" lvl="0" marL="457200" rtl="0" algn="l">
              <a:spcBef>
                <a:spcPts val="0"/>
              </a:spcBef>
              <a:spcAft>
                <a:spcPts val="0"/>
              </a:spcAft>
              <a:buSzPts val="1900"/>
              <a:buChar char="●"/>
            </a:pPr>
            <a:r>
              <a:rPr lang="en" sz="1900"/>
              <a:t>Reusable solutions to common problems in software design.</a:t>
            </a:r>
            <a:endParaRPr sz="1900"/>
          </a:p>
          <a:p>
            <a:pPr indent="0" lvl="0" marL="457200" rtl="0" algn="l">
              <a:spcBef>
                <a:spcPts val="1200"/>
              </a:spcBef>
              <a:spcAft>
                <a:spcPts val="0"/>
              </a:spcAft>
              <a:buNone/>
            </a:pPr>
            <a:r>
              <a:t/>
            </a:r>
            <a:endParaRPr sz="1900"/>
          </a:p>
          <a:p>
            <a:pPr indent="-349250" lvl="0" marL="457200" rtl="0" algn="l">
              <a:spcBef>
                <a:spcPts val="1200"/>
              </a:spcBef>
              <a:spcAft>
                <a:spcPts val="0"/>
              </a:spcAft>
              <a:buSzPts val="1900"/>
              <a:buChar char="●"/>
            </a:pPr>
            <a:r>
              <a:rPr lang="en" sz="1900"/>
              <a:t>They are like a blueprint that helps you structure your code</a:t>
            </a:r>
            <a:r>
              <a:rPr lang="en" sz="1900"/>
              <a:t>.</a:t>
            </a:r>
            <a:endParaRPr sz="1900"/>
          </a:p>
          <a:p>
            <a:pPr indent="0" lvl="0" marL="457200" rtl="0" algn="l">
              <a:spcBef>
                <a:spcPts val="1200"/>
              </a:spcBef>
              <a:spcAft>
                <a:spcPts val="0"/>
              </a:spcAft>
              <a:buNone/>
            </a:pPr>
            <a:r>
              <a:t/>
            </a:r>
            <a:endParaRPr sz="1900"/>
          </a:p>
          <a:p>
            <a:pPr indent="-349250" lvl="0" marL="457200" rtl="0" algn="l">
              <a:spcBef>
                <a:spcPts val="1200"/>
              </a:spcBef>
              <a:spcAft>
                <a:spcPts val="0"/>
              </a:spcAft>
              <a:buSzPts val="1900"/>
              <a:buChar char="●"/>
            </a:pPr>
            <a:r>
              <a:rPr lang="en" sz="1900"/>
              <a:t>Benefits when used correctly:</a:t>
            </a:r>
            <a:endParaRPr sz="1900"/>
          </a:p>
          <a:p>
            <a:pPr indent="-349250" lvl="1" marL="914400" rtl="0" algn="l">
              <a:spcBef>
                <a:spcPts val="0"/>
              </a:spcBef>
              <a:spcAft>
                <a:spcPts val="0"/>
              </a:spcAft>
              <a:buSzPts val="1900"/>
              <a:buChar char="○"/>
            </a:pPr>
            <a:r>
              <a:rPr lang="en" sz="1900"/>
              <a:t>Improved Code Organization</a:t>
            </a:r>
            <a:endParaRPr sz="1900"/>
          </a:p>
          <a:p>
            <a:pPr indent="-349250" lvl="1" marL="914400" rtl="0" algn="l">
              <a:spcBef>
                <a:spcPts val="0"/>
              </a:spcBef>
              <a:spcAft>
                <a:spcPts val="0"/>
              </a:spcAft>
              <a:buSzPts val="1900"/>
              <a:buChar char="○"/>
            </a:pPr>
            <a:r>
              <a:rPr lang="en" sz="1900"/>
              <a:t>Easier to Maintain Code</a:t>
            </a:r>
            <a:endParaRPr sz="1900"/>
          </a:p>
          <a:p>
            <a:pPr indent="-349250" lvl="1" marL="914400" rtl="0" algn="l">
              <a:spcBef>
                <a:spcPts val="0"/>
              </a:spcBef>
              <a:spcAft>
                <a:spcPts val="0"/>
              </a:spcAft>
              <a:buSzPts val="1900"/>
              <a:buChar char="○"/>
            </a:pPr>
            <a:r>
              <a:rPr lang="en" sz="1900"/>
              <a:t>Builds Proven &amp; Reusable Solutions</a:t>
            </a:r>
            <a:endParaRPr sz="1900"/>
          </a:p>
          <a:p>
            <a:pPr indent="-349250" lvl="1" marL="914400" rtl="0" algn="l">
              <a:spcBef>
                <a:spcPts val="0"/>
              </a:spcBef>
              <a:spcAft>
                <a:spcPts val="0"/>
              </a:spcAft>
              <a:buSzPts val="1900"/>
              <a:buChar char="○"/>
            </a:pPr>
            <a:r>
              <a:rPr lang="en" sz="1900"/>
              <a:t>Creates a Shared Vocabulary Among Developers</a:t>
            </a:r>
            <a:endParaRPr sz="1900"/>
          </a:p>
        </p:txBody>
      </p:sp>
      <p:sp>
        <p:nvSpPr>
          <p:cNvPr id="348" name="Google Shape;348;p43"/>
          <p:cNvSpPr txBox="1"/>
          <p:nvPr>
            <p:ph type="title"/>
          </p:nvPr>
        </p:nvSpPr>
        <p:spPr>
          <a:xfrm>
            <a:off x="346925" y="4575650"/>
            <a:ext cx="8598000" cy="362700"/>
          </a:xfrm>
          <a:prstGeom prst="rect">
            <a:avLst/>
          </a:prstGeom>
        </p:spPr>
        <p:txBody>
          <a:bodyPr anchorCtr="0" anchor="t" bIns="91425" lIns="91425" spcFirstLastPara="1" rIns="91425" wrap="square" tIns="91425">
            <a:normAutofit fontScale="90000"/>
          </a:bodyPr>
          <a:lstStyle/>
          <a:p>
            <a:pPr indent="0" lvl="0" marL="0" rtl="0" algn="r">
              <a:spcBef>
                <a:spcPts val="0"/>
              </a:spcBef>
              <a:spcAft>
                <a:spcPts val="0"/>
              </a:spcAft>
              <a:buNone/>
            </a:pPr>
            <a:r>
              <a:rPr lang="en" sz="1400"/>
              <a:t>Presenter: </a:t>
            </a:r>
            <a:r>
              <a:rPr b="1" lang="en" sz="1400"/>
              <a:t>Brandon Lunney</a:t>
            </a:r>
            <a:endParaRPr b="1" sz="14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4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Who Are the Gang of Four (GoF)?</a:t>
            </a:r>
            <a:endParaRPr/>
          </a:p>
        </p:txBody>
      </p:sp>
      <p:sp>
        <p:nvSpPr>
          <p:cNvPr id="354" name="Google Shape;354;p44"/>
          <p:cNvSpPr txBox="1"/>
          <p:nvPr>
            <p:ph idx="1" type="body"/>
          </p:nvPr>
        </p:nvSpPr>
        <p:spPr>
          <a:xfrm>
            <a:off x="1297500" y="1307850"/>
            <a:ext cx="4327500" cy="3368400"/>
          </a:xfrm>
          <a:prstGeom prst="rect">
            <a:avLst/>
          </a:prstGeom>
        </p:spPr>
        <p:txBody>
          <a:bodyPr anchorCtr="0" anchor="t" bIns="91425" lIns="91425" spcFirstLastPara="1" rIns="91425" wrap="square" tIns="91425">
            <a:normAutofit/>
          </a:bodyPr>
          <a:lstStyle/>
          <a:p>
            <a:pPr indent="-349250" lvl="0" marL="457200" rtl="0" algn="l">
              <a:spcBef>
                <a:spcPts val="0"/>
              </a:spcBef>
              <a:spcAft>
                <a:spcPts val="0"/>
              </a:spcAft>
              <a:buSzPts val="1900"/>
              <a:buChar char="●"/>
            </a:pPr>
            <a:r>
              <a:rPr lang="en" sz="1900"/>
              <a:t>Formalized 23 Classic Design Patterns in their Book “Design Patterns”.</a:t>
            </a:r>
            <a:endParaRPr sz="1900"/>
          </a:p>
          <a:p>
            <a:pPr indent="0" lvl="0" marL="457200" rtl="0" algn="l">
              <a:spcBef>
                <a:spcPts val="1200"/>
              </a:spcBef>
              <a:spcAft>
                <a:spcPts val="0"/>
              </a:spcAft>
              <a:buNone/>
            </a:pPr>
            <a:r>
              <a:t/>
            </a:r>
            <a:endParaRPr sz="1900"/>
          </a:p>
          <a:p>
            <a:pPr indent="-349250" lvl="0" marL="457200" rtl="0" algn="l">
              <a:spcBef>
                <a:spcPts val="1200"/>
              </a:spcBef>
              <a:spcAft>
                <a:spcPts val="0"/>
              </a:spcAft>
              <a:buSzPts val="1900"/>
              <a:buChar char="●"/>
            </a:pPr>
            <a:r>
              <a:rPr lang="en" sz="1900"/>
              <a:t>They </a:t>
            </a:r>
            <a:r>
              <a:rPr lang="en" sz="1900"/>
              <a:t>observed</a:t>
            </a:r>
            <a:r>
              <a:rPr lang="en" sz="1900"/>
              <a:t> &amp; documented recurring solutions that experienced developers were already using.</a:t>
            </a:r>
            <a:endParaRPr sz="1900"/>
          </a:p>
        </p:txBody>
      </p:sp>
      <p:pic>
        <p:nvPicPr>
          <p:cNvPr id="355" name="Google Shape;355;p44"/>
          <p:cNvPicPr preferRelativeResize="0"/>
          <p:nvPr/>
        </p:nvPicPr>
        <p:blipFill>
          <a:blip r:embed="rId3">
            <a:alphaModFix/>
          </a:blip>
          <a:stretch>
            <a:fillRect/>
          </a:stretch>
        </p:blipFill>
        <p:spPr>
          <a:xfrm>
            <a:off x="5813448" y="1148975"/>
            <a:ext cx="2522952" cy="3368400"/>
          </a:xfrm>
          <a:prstGeom prst="rect">
            <a:avLst/>
          </a:prstGeom>
          <a:noFill/>
          <a:ln>
            <a:noFill/>
          </a:ln>
        </p:spPr>
      </p:pic>
      <p:sp>
        <p:nvSpPr>
          <p:cNvPr id="356" name="Google Shape;356;p44"/>
          <p:cNvSpPr txBox="1"/>
          <p:nvPr>
            <p:ph type="title"/>
          </p:nvPr>
        </p:nvSpPr>
        <p:spPr>
          <a:xfrm>
            <a:off x="346925" y="4575650"/>
            <a:ext cx="8598000" cy="362700"/>
          </a:xfrm>
          <a:prstGeom prst="rect">
            <a:avLst/>
          </a:prstGeom>
        </p:spPr>
        <p:txBody>
          <a:bodyPr anchorCtr="0" anchor="t" bIns="91425" lIns="91425" spcFirstLastPara="1" rIns="91425" wrap="square" tIns="91425">
            <a:normAutofit fontScale="90000"/>
          </a:bodyPr>
          <a:lstStyle/>
          <a:p>
            <a:pPr indent="0" lvl="0" marL="0" rtl="0" algn="r">
              <a:spcBef>
                <a:spcPts val="0"/>
              </a:spcBef>
              <a:spcAft>
                <a:spcPts val="0"/>
              </a:spcAft>
              <a:buNone/>
            </a:pPr>
            <a:r>
              <a:rPr lang="en" sz="1400"/>
              <a:t>Presenter: </a:t>
            </a:r>
            <a:r>
              <a:rPr b="1" lang="en" sz="1400"/>
              <a:t>Brandon Lunney</a:t>
            </a:r>
            <a:endParaRPr b="1" sz="14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4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Three Categories of GoF Patterns</a:t>
            </a:r>
            <a:endParaRPr/>
          </a:p>
        </p:txBody>
      </p:sp>
      <p:sp>
        <p:nvSpPr>
          <p:cNvPr id="362" name="Google Shape;362;p45"/>
          <p:cNvSpPr txBox="1"/>
          <p:nvPr>
            <p:ph idx="1" type="body"/>
          </p:nvPr>
        </p:nvSpPr>
        <p:spPr>
          <a:xfrm>
            <a:off x="1297500" y="1307850"/>
            <a:ext cx="7647300" cy="3630600"/>
          </a:xfrm>
          <a:prstGeom prst="rect">
            <a:avLst/>
          </a:prstGeom>
        </p:spPr>
        <p:txBody>
          <a:bodyPr anchorCtr="0" anchor="t" bIns="91425" lIns="91425" spcFirstLastPara="1" rIns="91425" wrap="square" tIns="91425">
            <a:noAutofit/>
          </a:bodyPr>
          <a:lstStyle/>
          <a:p>
            <a:pPr indent="-336550" lvl="0" marL="457200" rtl="0" algn="l">
              <a:lnSpc>
                <a:spcPct val="200000"/>
              </a:lnSpc>
              <a:spcBef>
                <a:spcPts val="0"/>
              </a:spcBef>
              <a:spcAft>
                <a:spcPts val="0"/>
              </a:spcAft>
              <a:buSzPts val="1700"/>
              <a:buAutoNum type="arabicPeriod"/>
            </a:pPr>
            <a:r>
              <a:rPr b="1" lang="en" sz="1700">
                <a:solidFill>
                  <a:srgbClr val="00FFFF"/>
                </a:solidFill>
              </a:rPr>
              <a:t>Creational</a:t>
            </a:r>
            <a:r>
              <a:rPr b="1" lang="en" sz="1700"/>
              <a:t>:</a:t>
            </a:r>
            <a:r>
              <a:rPr lang="en" sz="1700"/>
              <a:t> Deals with how Objects are Created</a:t>
            </a:r>
            <a:endParaRPr sz="1700"/>
          </a:p>
          <a:p>
            <a:pPr indent="-336550" lvl="1" marL="914400" rtl="0" algn="l">
              <a:lnSpc>
                <a:spcPct val="200000"/>
              </a:lnSpc>
              <a:spcBef>
                <a:spcPts val="0"/>
              </a:spcBef>
              <a:spcAft>
                <a:spcPts val="0"/>
              </a:spcAft>
              <a:buSzPts val="1700"/>
              <a:buChar char="○"/>
            </a:pPr>
            <a:r>
              <a:rPr lang="en" sz="1700"/>
              <a:t>EX. Singleton, Builder, +3 Others…</a:t>
            </a:r>
            <a:endParaRPr sz="1700"/>
          </a:p>
          <a:p>
            <a:pPr indent="-336550" lvl="0" marL="457200" rtl="0" algn="l">
              <a:lnSpc>
                <a:spcPct val="200000"/>
              </a:lnSpc>
              <a:spcBef>
                <a:spcPts val="0"/>
              </a:spcBef>
              <a:spcAft>
                <a:spcPts val="0"/>
              </a:spcAft>
              <a:buSzPts val="1700"/>
              <a:buAutoNum type="arabicPeriod"/>
            </a:pPr>
            <a:r>
              <a:rPr b="1" lang="en" sz="1700">
                <a:solidFill>
                  <a:srgbClr val="00FFFF"/>
                </a:solidFill>
              </a:rPr>
              <a:t>Structural</a:t>
            </a:r>
            <a:r>
              <a:rPr b="1" lang="en" sz="1700"/>
              <a:t>:</a:t>
            </a:r>
            <a:r>
              <a:rPr lang="en" sz="1700"/>
              <a:t> Deals with How Classes &amp; Objects are Combined</a:t>
            </a:r>
            <a:endParaRPr sz="1700"/>
          </a:p>
          <a:p>
            <a:pPr indent="-336550" lvl="1" marL="914400" rtl="0" algn="l">
              <a:lnSpc>
                <a:spcPct val="200000"/>
              </a:lnSpc>
              <a:spcBef>
                <a:spcPts val="0"/>
              </a:spcBef>
              <a:spcAft>
                <a:spcPts val="0"/>
              </a:spcAft>
              <a:buSzPts val="1700"/>
              <a:buChar char="○"/>
            </a:pPr>
            <a:r>
              <a:rPr lang="en" sz="1700"/>
              <a:t>EX. Facade, Decorator, +5 Others…</a:t>
            </a:r>
            <a:endParaRPr sz="1700"/>
          </a:p>
          <a:p>
            <a:pPr indent="-336550" lvl="0" marL="457200" rtl="0" algn="l">
              <a:lnSpc>
                <a:spcPct val="200000"/>
              </a:lnSpc>
              <a:spcBef>
                <a:spcPts val="0"/>
              </a:spcBef>
              <a:spcAft>
                <a:spcPts val="0"/>
              </a:spcAft>
              <a:buSzPts val="1700"/>
              <a:buAutoNum type="arabicPeriod"/>
            </a:pPr>
            <a:r>
              <a:rPr b="1" lang="en" sz="1700">
                <a:solidFill>
                  <a:srgbClr val="00FFFF"/>
                </a:solidFill>
              </a:rPr>
              <a:t>Behavioral</a:t>
            </a:r>
            <a:r>
              <a:rPr b="1" lang="en" sz="1700"/>
              <a:t>: </a:t>
            </a:r>
            <a:r>
              <a:rPr lang="en" sz="1700"/>
              <a:t>Deals with How Objects Communicate</a:t>
            </a:r>
            <a:endParaRPr sz="1700"/>
          </a:p>
          <a:p>
            <a:pPr indent="-336550" lvl="1" marL="914400" rtl="0" algn="l">
              <a:lnSpc>
                <a:spcPct val="200000"/>
              </a:lnSpc>
              <a:spcBef>
                <a:spcPts val="0"/>
              </a:spcBef>
              <a:spcAft>
                <a:spcPts val="0"/>
              </a:spcAft>
              <a:buSzPts val="1700"/>
              <a:buChar char="○"/>
            </a:pPr>
            <a:r>
              <a:rPr lang="en" sz="1700"/>
              <a:t>EX. Strategy, Command, +9 Others…</a:t>
            </a:r>
            <a:endParaRPr sz="1700"/>
          </a:p>
        </p:txBody>
      </p:sp>
      <p:sp>
        <p:nvSpPr>
          <p:cNvPr id="363" name="Google Shape;363;p45"/>
          <p:cNvSpPr txBox="1"/>
          <p:nvPr>
            <p:ph type="title"/>
          </p:nvPr>
        </p:nvSpPr>
        <p:spPr>
          <a:xfrm>
            <a:off x="346925" y="4575650"/>
            <a:ext cx="8598000" cy="362700"/>
          </a:xfrm>
          <a:prstGeom prst="rect">
            <a:avLst/>
          </a:prstGeom>
        </p:spPr>
        <p:txBody>
          <a:bodyPr anchorCtr="0" anchor="t" bIns="91425" lIns="91425" spcFirstLastPara="1" rIns="91425" wrap="square" tIns="91425">
            <a:normAutofit fontScale="90000"/>
          </a:bodyPr>
          <a:lstStyle/>
          <a:p>
            <a:pPr indent="0" lvl="0" marL="0" rtl="0" algn="r">
              <a:spcBef>
                <a:spcPts val="0"/>
              </a:spcBef>
              <a:spcAft>
                <a:spcPts val="0"/>
              </a:spcAft>
              <a:buNone/>
            </a:pPr>
            <a:r>
              <a:rPr lang="en" sz="1400"/>
              <a:t>Presenter: </a:t>
            </a:r>
            <a:r>
              <a:rPr b="1" lang="en" sz="1400"/>
              <a:t>Brandon Lunney</a:t>
            </a:r>
            <a:endParaRPr b="1" sz="14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4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Decorator Pattern in Just Fishing</a:t>
            </a:r>
            <a:endParaRPr/>
          </a:p>
        </p:txBody>
      </p:sp>
      <p:sp>
        <p:nvSpPr>
          <p:cNvPr id="369" name="Google Shape;369;p46"/>
          <p:cNvSpPr txBox="1"/>
          <p:nvPr>
            <p:ph idx="1" type="body"/>
          </p:nvPr>
        </p:nvSpPr>
        <p:spPr>
          <a:xfrm>
            <a:off x="1297500" y="1567550"/>
            <a:ext cx="3274500" cy="2911200"/>
          </a:xfrm>
          <a:prstGeom prst="rect">
            <a:avLst/>
          </a:prstGeom>
        </p:spPr>
        <p:txBody>
          <a:bodyPr anchorCtr="0" anchor="t" bIns="91425" lIns="91425" spcFirstLastPara="1" rIns="91425" wrap="square" tIns="91425">
            <a:normAutofit lnSpcReduction="20000"/>
          </a:bodyPr>
          <a:lstStyle/>
          <a:p>
            <a:pPr indent="0" lvl="0" marL="0" rtl="0" algn="l">
              <a:spcBef>
                <a:spcPts val="1200"/>
              </a:spcBef>
              <a:spcAft>
                <a:spcPts val="0"/>
              </a:spcAft>
              <a:buNone/>
            </a:pPr>
            <a:r>
              <a:rPr lang="en"/>
              <a:t>W</a:t>
            </a:r>
            <a:r>
              <a:rPr lang="en"/>
              <a:t>raps an object to add behavior dynamically without changing the original class</a:t>
            </a:r>
            <a:endParaRPr/>
          </a:p>
          <a:p>
            <a:pPr indent="0" lvl="0" marL="0" rtl="0" algn="l">
              <a:spcBef>
                <a:spcPts val="1200"/>
              </a:spcBef>
              <a:spcAft>
                <a:spcPts val="0"/>
              </a:spcAft>
              <a:buNone/>
            </a:pPr>
            <a:r>
              <a:rPr lang="en"/>
              <a:t>Stacks behaviors by wrapping calculators inside each other</a:t>
            </a:r>
            <a:endParaRPr/>
          </a:p>
          <a:p>
            <a:pPr indent="0" lvl="0" marL="0" rtl="0" algn="l">
              <a:spcBef>
                <a:spcPts val="1200"/>
              </a:spcBef>
              <a:spcAft>
                <a:spcPts val="0"/>
              </a:spcAft>
              <a:buNone/>
            </a:pPr>
            <a:r>
              <a:rPr lang="en"/>
              <a:t>Invoked by</a:t>
            </a:r>
            <a:endParaRPr/>
          </a:p>
          <a:p>
            <a:pPr indent="0" lvl="0" marL="0" rtl="0" algn="l">
              <a:lnSpc>
                <a:spcPct val="100000"/>
              </a:lnSpc>
              <a:spcBef>
                <a:spcPts val="1200"/>
              </a:spcBef>
              <a:spcAft>
                <a:spcPts val="0"/>
              </a:spcAft>
              <a:buNone/>
            </a:pPr>
            <a:r>
              <a:rPr lang="en" sz="900"/>
              <a:t>IStatCalculator calculator = new BaseStatCalculator();</a:t>
            </a:r>
            <a:endParaRPr sz="900"/>
          </a:p>
          <a:p>
            <a:pPr indent="0" lvl="0" marL="0" rtl="0" algn="l">
              <a:lnSpc>
                <a:spcPct val="100000"/>
              </a:lnSpc>
              <a:spcBef>
                <a:spcPts val="0"/>
              </a:spcBef>
              <a:spcAft>
                <a:spcPts val="0"/>
              </a:spcAft>
              <a:buNone/>
            </a:pPr>
            <a:r>
              <a:rPr lang="en" sz="900"/>
              <a:t>//wraps based on action string</a:t>
            </a:r>
            <a:endParaRPr sz="900"/>
          </a:p>
          <a:p>
            <a:pPr indent="0" lvl="0" marL="0" rtl="0" algn="l">
              <a:lnSpc>
                <a:spcPct val="100000"/>
              </a:lnSpc>
              <a:spcBef>
                <a:spcPts val="0"/>
              </a:spcBef>
              <a:spcAft>
                <a:spcPts val="0"/>
              </a:spcAft>
              <a:buNone/>
            </a:pPr>
            <a:r>
              <a:rPr lang="en" sz="900"/>
              <a:t>riskVal=calculator.Calculate(riskVal);</a:t>
            </a:r>
            <a:endParaRPr sz="900"/>
          </a:p>
          <a:p>
            <a:pPr indent="0" lvl="0" marL="0" rtl="0" algn="l">
              <a:lnSpc>
                <a:spcPct val="100000"/>
              </a:lnSpc>
              <a:spcBef>
                <a:spcPts val="0"/>
              </a:spcBef>
              <a:spcAft>
                <a:spcPts val="0"/>
              </a:spcAft>
              <a:buNone/>
            </a:pPr>
            <a:r>
              <a:t/>
            </a:r>
            <a:endParaRPr sz="900"/>
          </a:p>
          <a:p>
            <a:pPr indent="0" lvl="0" marL="0" rtl="0" algn="l">
              <a:lnSpc>
                <a:spcPct val="100000"/>
              </a:lnSpc>
              <a:spcBef>
                <a:spcPts val="0"/>
              </a:spcBef>
              <a:spcAft>
                <a:spcPts val="0"/>
              </a:spcAft>
              <a:buNone/>
            </a:pPr>
            <a:r>
              <a:rPr lang="en"/>
              <a:t>Without decorator, it would be a giant switch statement that grows with every action</a:t>
            </a:r>
            <a:endParaRPr/>
          </a:p>
        </p:txBody>
      </p:sp>
      <p:pic>
        <p:nvPicPr>
          <p:cNvPr id="370" name="Google Shape;370;p46" title="decoratorPattern.png"/>
          <p:cNvPicPr preferRelativeResize="0"/>
          <p:nvPr/>
        </p:nvPicPr>
        <p:blipFill>
          <a:blip r:embed="rId3">
            <a:alphaModFix/>
          </a:blip>
          <a:stretch>
            <a:fillRect/>
          </a:stretch>
        </p:blipFill>
        <p:spPr>
          <a:xfrm>
            <a:off x="5159925" y="1433350"/>
            <a:ext cx="3243449" cy="3179600"/>
          </a:xfrm>
          <a:prstGeom prst="rect">
            <a:avLst/>
          </a:prstGeom>
          <a:noFill/>
          <a:ln>
            <a:noFill/>
          </a:ln>
        </p:spPr>
      </p:pic>
      <p:sp>
        <p:nvSpPr>
          <p:cNvPr id="371" name="Google Shape;371;p46"/>
          <p:cNvSpPr txBox="1"/>
          <p:nvPr>
            <p:ph type="title"/>
          </p:nvPr>
        </p:nvSpPr>
        <p:spPr>
          <a:xfrm>
            <a:off x="346925" y="4575650"/>
            <a:ext cx="8598000" cy="362700"/>
          </a:xfrm>
          <a:prstGeom prst="rect">
            <a:avLst/>
          </a:prstGeom>
        </p:spPr>
        <p:txBody>
          <a:bodyPr anchorCtr="0" anchor="t" bIns="91425" lIns="91425" spcFirstLastPara="1" rIns="91425" wrap="square" tIns="91425">
            <a:normAutofit fontScale="90000"/>
          </a:bodyPr>
          <a:lstStyle/>
          <a:p>
            <a:pPr indent="0" lvl="0" marL="0" rtl="0" algn="r">
              <a:spcBef>
                <a:spcPts val="0"/>
              </a:spcBef>
              <a:spcAft>
                <a:spcPts val="0"/>
              </a:spcAft>
              <a:buNone/>
            </a:pPr>
            <a:r>
              <a:rPr lang="en" sz="1400"/>
              <a:t>Presenter: </a:t>
            </a:r>
            <a:r>
              <a:rPr b="1" lang="en" sz="1400"/>
              <a:t>Kade McRae</a:t>
            </a:r>
            <a:endParaRPr b="1" sz="14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4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State Pattern in Fruit of the Witch</a:t>
            </a:r>
            <a:endParaRPr/>
          </a:p>
        </p:txBody>
      </p:sp>
      <p:sp>
        <p:nvSpPr>
          <p:cNvPr id="377" name="Google Shape;377;p47"/>
          <p:cNvSpPr txBox="1"/>
          <p:nvPr>
            <p:ph idx="1" type="body"/>
          </p:nvPr>
        </p:nvSpPr>
        <p:spPr>
          <a:xfrm>
            <a:off x="416025" y="1515925"/>
            <a:ext cx="3385200" cy="2962800"/>
          </a:xfrm>
          <a:prstGeom prst="rect">
            <a:avLst/>
          </a:prstGeom>
        </p:spPr>
        <p:txBody>
          <a:bodyPr anchorCtr="0" anchor="t" bIns="91425" lIns="91425" spcFirstLastPara="1" rIns="91425" wrap="square" tIns="91425">
            <a:normAutofit fontScale="92500" lnSpcReduction="20000"/>
          </a:bodyPr>
          <a:lstStyle/>
          <a:p>
            <a:pPr indent="0" lvl="0" marL="0" rtl="0" algn="l">
              <a:spcBef>
                <a:spcPts val="1200"/>
              </a:spcBef>
              <a:spcAft>
                <a:spcPts val="0"/>
              </a:spcAft>
              <a:buNone/>
            </a:pPr>
            <a:r>
              <a:rPr lang="en" sz="1400">
                <a:latin typeface="Arial"/>
                <a:ea typeface="Arial"/>
                <a:cs typeface="Arial"/>
                <a:sym typeface="Arial"/>
              </a:rPr>
              <a:t>This pattern fits nicely with my</a:t>
            </a:r>
            <a:r>
              <a:rPr b="1" lang="en" sz="1400">
                <a:latin typeface="Arial"/>
                <a:ea typeface="Arial"/>
                <a:cs typeface="Arial"/>
                <a:sym typeface="Arial"/>
              </a:rPr>
              <a:t> Detection State Machine.</a:t>
            </a:r>
            <a:endParaRPr b="1" sz="1400">
              <a:latin typeface="Arial"/>
              <a:ea typeface="Arial"/>
              <a:cs typeface="Arial"/>
              <a:sym typeface="Arial"/>
            </a:endParaRPr>
          </a:p>
          <a:p>
            <a:pPr indent="0" lvl="0" marL="0" rtl="0" algn="l">
              <a:spcBef>
                <a:spcPts val="1200"/>
              </a:spcBef>
              <a:spcAft>
                <a:spcPts val="0"/>
              </a:spcAft>
              <a:buNone/>
            </a:pPr>
            <a:r>
              <a:rPr lang="en" sz="1400">
                <a:latin typeface="Arial"/>
                <a:ea typeface="Arial"/>
                <a:cs typeface="Arial"/>
                <a:sym typeface="Arial"/>
              </a:rPr>
              <a:t>A</a:t>
            </a:r>
            <a:r>
              <a:rPr b="1" lang="en" sz="1400">
                <a:latin typeface="Arial"/>
                <a:ea typeface="Arial"/>
                <a:cs typeface="Arial"/>
                <a:sym typeface="Arial"/>
              </a:rPr>
              <a:t> Detection Agent </a:t>
            </a:r>
            <a:r>
              <a:rPr lang="en" sz="1400">
                <a:latin typeface="Arial"/>
                <a:ea typeface="Arial"/>
                <a:cs typeface="Arial"/>
                <a:sym typeface="Arial"/>
              </a:rPr>
              <a:t>sends information to the</a:t>
            </a:r>
            <a:r>
              <a:rPr b="1" lang="en" sz="1400">
                <a:latin typeface="Arial"/>
                <a:ea typeface="Arial"/>
                <a:cs typeface="Arial"/>
                <a:sym typeface="Arial"/>
              </a:rPr>
              <a:t> Detection State Machine</a:t>
            </a:r>
            <a:endParaRPr sz="1400">
              <a:latin typeface="Arial"/>
              <a:ea typeface="Arial"/>
              <a:cs typeface="Arial"/>
              <a:sym typeface="Arial"/>
            </a:endParaRPr>
          </a:p>
          <a:p>
            <a:pPr indent="0" lvl="0" marL="0" rtl="0" algn="l">
              <a:spcBef>
                <a:spcPts val="1200"/>
              </a:spcBef>
              <a:spcAft>
                <a:spcPts val="0"/>
              </a:spcAft>
              <a:buNone/>
            </a:pPr>
            <a:r>
              <a:rPr b="1" lang="en" sz="1400">
                <a:latin typeface="Arial"/>
                <a:ea typeface="Arial"/>
                <a:cs typeface="Arial"/>
                <a:sym typeface="Arial"/>
              </a:rPr>
              <a:t>DSM </a:t>
            </a:r>
            <a:r>
              <a:rPr lang="en" sz="1400">
                <a:latin typeface="Arial"/>
                <a:ea typeface="Arial"/>
                <a:cs typeface="Arial"/>
                <a:sym typeface="Arial"/>
              </a:rPr>
              <a:t>updates the status of all </a:t>
            </a:r>
            <a:r>
              <a:rPr b="1" lang="en" sz="1400">
                <a:latin typeface="Arial"/>
                <a:ea typeface="Arial"/>
                <a:cs typeface="Arial"/>
                <a:sym typeface="Arial"/>
              </a:rPr>
              <a:t>Enemies</a:t>
            </a:r>
            <a:endParaRPr b="1" sz="1400">
              <a:latin typeface="Arial"/>
              <a:ea typeface="Arial"/>
              <a:cs typeface="Arial"/>
              <a:sym typeface="Arial"/>
            </a:endParaRPr>
          </a:p>
          <a:p>
            <a:pPr indent="0" lvl="0" marL="0" rtl="0" algn="l">
              <a:spcBef>
                <a:spcPts val="1200"/>
              </a:spcBef>
              <a:spcAft>
                <a:spcPts val="0"/>
              </a:spcAft>
              <a:buNone/>
            </a:pPr>
            <a:r>
              <a:t/>
            </a:r>
            <a:endParaRPr b="1" sz="1400">
              <a:solidFill>
                <a:srgbClr val="00FFFF"/>
              </a:solidFill>
              <a:latin typeface="Arial"/>
              <a:ea typeface="Arial"/>
              <a:cs typeface="Arial"/>
              <a:sym typeface="Arial"/>
            </a:endParaRPr>
          </a:p>
          <a:p>
            <a:pPr indent="0" lvl="0" marL="0" rtl="0" algn="l">
              <a:spcBef>
                <a:spcPts val="1200"/>
              </a:spcBef>
              <a:spcAft>
                <a:spcPts val="0"/>
              </a:spcAft>
              <a:buNone/>
            </a:pPr>
            <a:r>
              <a:rPr b="1" lang="en" sz="1400">
                <a:solidFill>
                  <a:srgbClr val="00FFFF"/>
                </a:solidFill>
                <a:latin typeface="Arial"/>
                <a:ea typeface="Arial"/>
                <a:cs typeface="Arial"/>
                <a:sym typeface="Arial"/>
              </a:rPr>
              <a:t>What it Enables</a:t>
            </a:r>
            <a:r>
              <a:rPr lang="en" sz="1400">
                <a:latin typeface="Arial"/>
                <a:ea typeface="Arial"/>
                <a:cs typeface="Arial"/>
                <a:sym typeface="Arial"/>
              </a:rPr>
              <a:t>:</a:t>
            </a:r>
            <a:endParaRPr sz="1400">
              <a:latin typeface="Arial"/>
              <a:ea typeface="Arial"/>
              <a:cs typeface="Arial"/>
              <a:sym typeface="Arial"/>
            </a:endParaRPr>
          </a:p>
          <a:p>
            <a:pPr indent="0" lvl="0" marL="0" rtl="0" algn="l">
              <a:spcBef>
                <a:spcPts val="1200"/>
              </a:spcBef>
              <a:spcAft>
                <a:spcPts val="0"/>
              </a:spcAft>
              <a:buNone/>
            </a:pPr>
            <a:r>
              <a:rPr lang="en" sz="1400">
                <a:latin typeface="Arial"/>
                <a:ea typeface="Arial"/>
                <a:cs typeface="Arial"/>
                <a:sym typeface="Arial"/>
              </a:rPr>
              <a:t>I will be able to add new </a:t>
            </a:r>
            <a:r>
              <a:rPr b="1" lang="en" sz="1400">
                <a:latin typeface="Arial"/>
                <a:ea typeface="Arial"/>
                <a:cs typeface="Arial"/>
                <a:sym typeface="Arial"/>
              </a:rPr>
              <a:t>Detection States</a:t>
            </a:r>
            <a:r>
              <a:rPr lang="en" sz="1400">
                <a:latin typeface="Arial"/>
                <a:ea typeface="Arial"/>
                <a:cs typeface="Arial"/>
                <a:sym typeface="Arial"/>
              </a:rPr>
              <a:t> that manipulate </a:t>
            </a:r>
            <a:r>
              <a:rPr b="1" lang="en" sz="1400">
                <a:latin typeface="Arial"/>
                <a:ea typeface="Arial"/>
                <a:cs typeface="Arial"/>
                <a:sym typeface="Arial"/>
              </a:rPr>
              <a:t>Enemies </a:t>
            </a:r>
            <a:r>
              <a:rPr lang="en" sz="1400">
                <a:latin typeface="Arial"/>
                <a:ea typeface="Arial"/>
                <a:cs typeface="Arial"/>
                <a:sym typeface="Arial"/>
              </a:rPr>
              <a:t>stats in isolation</a:t>
            </a:r>
            <a:endParaRPr sz="1400">
              <a:latin typeface="Arial"/>
              <a:ea typeface="Arial"/>
              <a:cs typeface="Arial"/>
              <a:sym typeface="Arial"/>
            </a:endParaRPr>
          </a:p>
          <a:p>
            <a:pPr indent="0" lvl="0" marL="0" rtl="0" algn="l">
              <a:spcBef>
                <a:spcPts val="1200"/>
              </a:spcBef>
              <a:spcAft>
                <a:spcPts val="1200"/>
              </a:spcAft>
              <a:buNone/>
            </a:pPr>
            <a:r>
              <a:t/>
            </a:r>
            <a:endParaRPr sz="1100">
              <a:latin typeface="Arial"/>
              <a:ea typeface="Arial"/>
              <a:cs typeface="Arial"/>
              <a:sym typeface="Arial"/>
            </a:endParaRPr>
          </a:p>
        </p:txBody>
      </p:sp>
      <p:sp>
        <p:nvSpPr>
          <p:cNvPr id="378" name="Google Shape;378;p47"/>
          <p:cNvSpPr txBox="1"/>
          <p:nvPr>
            <p:ph type="title"/>
          </p:nvPr>
        </p:nvSpPr>
        <p:spPr>
          <a:xfrm>
            <a:off x="346925" y="4575650"/>
            <a:ext cx="8598000" cy="362700"/>
          </a:xfrm>
          <a:prstGeom prst="rect">
            <a:avLst/>
          </a:prstGeom>
        </p:spPr>
        <p:txBody>
          <a:bodyPr anchorCtr="0" anchor="t" bIns="91425" lIns="91425" spcFirstLastPara="1" rIns="91425" wrap="square" tIns="91425">
            <a:normAutofit fontScale="90000"/>
          </a:bodyPr>
          <a:lstStyle/>
          <a:p>
            <a:pPr indent="0" lvl="0" marL="0" rtl="0" algn="r">
              <a:spcBef>
                <a:spcPts val="0"/>
              </a:spcBef>
              <a:spcAft>
                <a:spcPts val="0"/>
              </a:spcAft>
              <a:buNone/>
            </a:pPr>
            <a:r>
              <a:rPr lang="en" sz="1400"/>
              <a:t>Presenter: </a:t>
            </a:r>
            <a:r>
              <a:rPr b="1" lang="en" sz="1400"/>
              <a:t>Brandon Lunney</a:t>
            </a:r>
            <a:endParaRPr b="1" sz="1400"/>
          </a:p>
        </p:txBody>
      </p:sp>
      <p:pic>
        <p:nvPicPr>
          <p:cNvPr id="379" name="Google Shape;379;p47"/>
          <p:cNvPicPr preferRelativeResize="0"/>
          <p:nvPr/>
        </p:nvPicPr>
        <p:blipFill>
          <a:blip r:embed="rId3">
            <a:alphaModFix/>
          </a:blip>
          <a:stretch>
            <a:fillRect/>
          </a:stretch>
        </p:blipFill>
        <p:spPr>
          <a:xfrm>
            <a:off x="3846998" y="1433169"/>
            <a:ext cx="5097925" cy="296282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4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Implementation in Fruit of the Witch</a:t>
            </a:r>
            <a:endParaRPr/>
          </a:p>
        </p:txBody>
      </p:sp>
      <p:sp>
        <p:nvSpPr>
          <p:cNvPr id="385" name="Google Shape;385;p48"/>
          <p:cNvSpPr txBox="1"/>
          <p:nvPr>
            <p:ph idx="1" type="body"/>
          </p:nvPr>
        </p:nvSpPr>
        <p:spPr>
          <a:xfrm>
            <a:off x="1079150" y="860122"/>
            <a:ext cx="2164500" cy="485400"/>
          </a:xfrm>
          <a:prstGeom prst="rect">
            <a:avLst/>
          </a:prstGeom>
        </p:spPr>
        <p:txBody>
          <a:bodyPr anchorCtr="0" anchor="t" bIns="91425" lIns="91425" spcFirstLastPara="1" rIns="91425" wrap="square" tIns="91425">
            <a:normAutofit lnSpcReduction="20000"/>
          </a:bodyPr>
          <a:lstStyle/>
          <a:p>
            <a:pPr indent="0" lvl="0" marL="0" rtl="0" algn="l">
              <a:spcBef>
                <a:spcPts val="1200"/>
              </a:spcBef>
              <a:spcAft>
                <a:spcPts val="1200"/>
              </a:spcAft>
              <a:buNone/>
            </a:pPr>
            <a:r>
              <a:rPr b="1" lang="en" sz="2000">
                <a:solidFill>
                  <a:srgbClr val="00FFFF"/>
                </a:solidFill>
              </a:rPr>
              <a:t>Interface</a:t>
            </a:r>
            <a:r>
              <a:rPr b="1" lang="en" sz="2000"/>
              <a:t>: </a:t>
            </a:r>
            <a:endParaRPr sz="1100">
              <a:latin typeface="Arial"/>
              <a:ea typeface="Arial"/>
              <a:cs typeface="Arial"/>
              <a:sym typeface="Arial"/>
            </a:endParaRPr>
          </a:p>
        </p:txBody>
      </p:sp>
      <p:sp>
        <p:nvSpPr>
          <p:cNvPr id="386" name="Google Shape;386;p48"/>
          <p:cNvSpPr txBox="1"/>
          <p:nvPr>
            <p:ph type="title"/>
          </p:nvPr>
        </p:nvSpPr>
        <p:spPr>
          <a:xfrm>
            <a:off x="346925" y="4575650"/>
            <a:ext cx="8598000" cy="362700"/>
          </a:xfrm>
          <a:prstGeom prst="rect">
            <a:avLst/>
          </a:prstGeom>
        </p:spPr>
        <p:txBody>
          <a:bodyPr anchorCtr="0" anchor="t" bIns="91425" lIns="91425" spcFirstLastPara="1" rIns="91425" wrap="square" tIns="91425">
            <a:normAutofit fontScale="90000"/>
          </a:bodyPr>
          <a:lstStyle/>
          <a:p>
            <a:pPr indent="0" lvl="0" marL="0" rtl="0" algn="r">
              <a:spcBef>
                <a:spcPts val="0"/>
              </a:spcBef>
              <a:spcAft>
                <a:spcPts val="0"/>
              </a:spcAft>
              <a:buNone/>
            </a:pPr>
            <a:r>
              <a:rPr lang="en" sz="1400"/>
              <a:t>Presenter: </a:t>
            </a:r>
            <a:r>
              <a:rPr b="1" lang="en" sz="1400"/>
              <a:t>Brandon Lunney</a:t>
            </a:r>
            <a:endParaRPr b="1" sz="1400"/>
          </a:p>
        </p:txBody>
      </p:sp>
      <p:pic>
        <p:nvPicPr>
          <p:cNvPr id="387" name="Google Shape;387;p48"/>
          <p:cNvPicPr preferRelativeResize="0"/>
          <p:nvPr/>
        </p:nvPicPr>
        <p:blipFill>
          <a:blip r:embed="rId3">
            <a:alphaModFix/>
          </a:blip>
          <a:stretch>
            <a:fillRect/>
          </a:stretch>
        </p:blipFill>
        <p:spPr>
          <a:xfrm>
            <a:off x="1079150" y="1220225"/>
            <a:ext cx="2918705" cy="914100"/>
          </a:xfrm>
          <a:prstGeom prst="rect">
            <a:avLst/>
          </a:prstGeom>
          <a:noFill/>
          <a:ln>
            <a:noFill/>
          </a:ln>
        </p:spPr>
      </p:pic>
      <p:pic>
        <p:nvPicPr>
          <p:cNvPr id="388" name="Google Shape;388;p48"/>
          <p:cNvPicPr preferRelativeResize="0"/>
          <p:nvPr/>
        </p:nvPicPr>
        <p:blipFill rotWithShape="1">
          <a:blip r:embed="rId4">
            <a:alphaModFix/>
          </a:blip>
          <a:srcRect b="22577" l="0" r="0" t="0"/>
          <a:stretch/>
        </p:blipFill>
        <p:spPr>
          <a:xfrm>
            <a:off x="685725" y="2575850"/>
            <a:ext cx="3325275" cy="1237700"/>
          </a:xfrm>
          <a:prstGeom prst="rect">
            <a:avLst/>
          </a:prstGeom>
          <a:noFill/>
          <a:ln>
            <a:noFill/>
          </a:ln>
        </p:spPr>
      </p:pic>
      <p:pic>
        <p:nvPicPr>
          <p:cNvPr id="389" name="Google Shape;389;p48"/>
          <p:cNvPicPr preferRelativeResize="0"/>
          <p:nvPr/>
        </p:nvPicPr>
        <p:blipFill>
          <a:blip r:embed="rId5">
            <a:alphaModFix/>
          </a:blip>
          <a:stretch>
            <a:fillRect/>
          </a:stretch>
        </p:blipFill>
        <p:spPr>
          <a:xfrm>
            <a:off x="1550975" y="4147277"/>
            <a:ext cx="2433350" cy="744325"/>
          </a:xfrm>
          <a:prstGeom prst="rect">
            <a:avLst/>
          </a:prstGeom>
          <a:noFill/>
          <a:ln>
            <a:noFill/>
          </a:ln>
        </p:spPr>
      </p:pic>
      <p:sp>
        <p:nvSpPr>
          <p:cNvPr id="390" name="Google Shape;390;p48"/>
          <p:cNvSpPr txBox="1"/>
          <p:nvPr>
            <p:ph idx="1" type="body"/>
          </p:nvPr>
        </p:nvSpPr>
        <p:spPr>
          <a:xfrm>
            <a:off x="346922" y="2134325"/>
            <a:ext cx="3573300" cy="485400"/>
          </a:xfrm>
          <a:prstGeom prst="rect">
            <a:avLst/>
          </a:prstGeom>
        </p:spPr>
        <p:txBody>
          <a:bodyPr anchorCtr="0" anchor="t" bIns="91425" lIns="91425" spcFirstLastPara="1" rIns="91425" wrap="square" tIns="91425">
            <a:normAutofit fontScale="92500"/>
          </a:bodyPr>
          <a:lstStyle/>
          <a:p>
            <a:pPr indent="0" lvl="0" marL="0" rtl="0" algn="l">
              <a:spcBef>
                <a:spcPts val="1200"/>
              </a:spcBef>
              <a:spcAft>
                <a:spcPts val="1200"/>
              </a:spcAft>
              <a:buNone/>
            </a:pPr>
            <a:r>
              <a:rPr b="1" lang="en" sz="2000">
                <a:solidFill>
                  <a:srgbClr val="00FFFF"/>
                </a:solidFill>
              </a:rPr>
              <a:t>States Implementing Interface</a:t>
            </a:r>
            <a:r>
              <a:rPr b="1" lang="en" sz="2000"/>
              <a:t>: </a:t>
            </a:r>
            <a:endParaRPr sz="1100">
              <a:latin typeface="Arial"/>
              <a:ea typeface="Arial"/>
              <a:cs typeface="Arial"/>
              <a:sym typeface="Arial"/>
            </a:endParaRPr>
          </a:p>
        </p:txBody>
      </p:sp>
      <p:sp>
        <p:nvSpPr>
          <p:cNvPr id="391" name="Google Shape;391;p48"/>
          <p:cNvSpPr txBox="1"/>
          <p:nvPr>
            <p:ph idx="1" type="body"/>
          </p:nvPr>
        </p:nvSpPr>
        <p:spPr>
          <a:xfrm>
            <a:off x="1479709" y="3801220"/>
            <a:ext cx="2164500" cy="485400"/>
          </a:xfrm>
          <a:prstGeom prst="rect">
            <a:avLst/>
          </a:prstGeom>
        </p:spPr>
        <p:txBody>
          <a:bodyPr anchorCtr="0" anchor="t" bIns="91425" lIns="91425" spcFirstLastPara="1" rIns="91425" wrap="square" tIns="91425">
            <a:normAutofit fontScale="85000"/>
          </a:bodyPr>
          <a:lstStyle/>
          <a:p>
            <a:pPr indent="0" lvl="0" marL="0" rtl="0" algn="l">
              <a:spcBef>
                <a:spcPts val="1200"/>
              </a:spcBef>
              <a:spcAft>
                <a:spcPts val="1200"/>
              </a:spcAft>
              <a:buNone/>
            </a:pPr>
            <a:r>
              <a:rPr b="1" lang="en" sz="2000">
                <a:solidFill>
                  <a:srgbClr val="00FFFF"/>
                </a:solidFill>
              </a:rPr>
              <a:t>Transition Method</a:t>
            </a:r>
            <a:r>
              <a:rPr b="1" lang="en" sz="2000"/>
              <a:t>: </a:t>
            </a:r>
            <a:endParaRPr sz="1100">
              <a:latin typeface="Arial"/>
              <a:ea typeface="Arial"/>
              <a:cs typeface="Arial"/>
              <a:sym typeface="Arial"/>
            </a:endParaRPr>
          </a:p>
        </p:txBody>
      </p:sp>
      <p:pic>
        <p:nvPicPr>
          <p:cNvPr id="392" name="Google Shape;392;p48"/>
          <p:cNvPicPr preferRelativeResize="0"/>
          <p:nvPr/>
        </p:nvPicPr>
        <p:blipFill>
          <a:blip r:embed="rId6">
            <a:alphaModFix/>
          </a:blip>
          <a:stretch>
            <a:fillRect/>
          </a:stretch>
        </p:blipFill>
        <p:spPr>
          <a:xfrm>
            <a:off x="4484200" y="860125"/>
            <a:ext cx="4350199" cy="368012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4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Other Patterns in the Fruit of the Witch</a:t>
            </a:r>
            <a:endParaRPr/>
          </a:p>
        </p:txBody>
      </p:sp>
      <p:sp>
        <p:nvSpPr>
          <p:cNvPr id="398" name="Google Shape;398;p49"/>
          <p:cNvSpPr txBox="1"/>
          <p:nvPr>
            <p:ph idx="1" type="body"/>
          </p:nvPr>
        </p:nvSpPr>
        <p:spPr>
          <a:xfrm>
            <a:off x="1297500" y="875950"/>
            <a:ext cx="7680000" cy="3756600"/>
          </a:xfrm>
          <a:prstGeom prst="rect">
            <a:avLst/>
          </a:prstGeom>
        </p:spPr>
        <p:txBody>
          <a:bodyPr anchorCtr="0" anchor="t" bIns="91425" lIns="91425" spcFirstLastPara="1" rIns="91425" wrap="square" tIns="91425">
            <a:normAutofit fontScale="70000" lnSpcReduction="10000"/>
          </a:bodyPr>
          <a:lstStyle/>
          <a:p>
            <a:pPr indent="0" lvl="0" marL="0" rtl="0" algn="l">
              <a:lnSpc>
                <a:spcPct val="150000"/>
              </a:lnSpc>
              <a:spcBef>
                <a:spcPts val="0"/>
              </a:spcBef>
              <a:spcAft>
                <a:spcPts val="0"/>
              </a:spcAft>
              <a:buNone/>
            </a:pPr>
            <a:r>
              <a:rPr b="1" lang="en" sz="2000">
                <a:solidFill>
                  <a:srgbClr val="00FFFF"/>
                </a:solidFill>
              </a:rPr>
              <a:t>Sound Engine</a:t>
            </a:r>
            <a:r>
              <a:rPr b="1" lang="en" sz="2000"/>
              <a:t>: Singleton</a:t>
            </a:r>
            <a:endParaRPr b="1" sz="2000"/>
          </a:p>
          <a:p>
            <a:pPr indent="0" lvl="0" marL="0" rtl="0" algn="l">
              <a:lnSpc>
                <a:spcPct val="150000"/>
              </a:lnSpc>
              <a:spcBef>
                <a:spcPts val="0"/>
              </a:spcBef>
              <a:spcAft>
                <a:spcPts val="0"/>
              </a:spcAft>
              <a:buNone/>
            </a:pPr>
            <a:r>
              <a:rPr b="1" lang="en" sz="2000"/>
              <a:t>	</a:t>
            </a:r>
            <a:r>
              <a:rPr lang="en" sz="1647"/>
              <a:t>We only ever want one sound engine in the game.</a:t>
            </a:r>
            <a:endParaRPr sz="1647"/>
          </a:p>
          <a:p>
            <a:pPr indent="0" lvl="0" marL="0" rtl="0" algn="l">
              <a:lnSpc>
                <a:spcPct val="150000"/>
              </a:lnSpc>
              <a:spcBef>
                <a:spcPts val="0"/>
              </a:spcBef>
              <a:spcAft>
                <a:spcPts val="0"/>
              </a:spcAft>
              <a:buNone/>
            </a:pPr>
            <a:r>
              <a:rPr b="1" lang="en" sz="2000">
                <a:solidFill>
                  <a:srgbClr val="00FFFF"/>
                </a:solidFill>
              </a:rPr>
              <a:t>UI Manager</a:t>
            </a:r>
            <a:r>
              <a:rPr b="1" lang="en" sz="2000"/>
              <a:t>: Facade </a:t>
            </a:r>
            <a:endParaRPr b="1" sz="2000"/>
          </a:p>
          <a:p>
            <a:pPr indent="0" lvl="0" marL="0" rtl="0" algn="l">
              <a:lnSpc>
                <a:spcPct val="150000"/>
              </a:lnSpc>
              <a:spcBef>
                <a:spcPts val="0"/>
              </a:spcBef>
              <a:spcAft>
                <a:spcPts val="0"/>
              </a:spcAft>
              <a:buNone/>
            </a:pPr>
            <a:r>
              <a:rPr b="1" lang="en" sz="2000"/>
              <a:t>	</a:t>
            </a:r>
            <a:r>
              <a:rPr lang="en" sz="1647"/>
              <a:t>Allows for each system to only have to interact like UIManager.ShowPauseMenu(); </a:t>
            </a:r>
            <a:r>
              <a:rPr b="1" lang="en" sz="2000"/>
              <a:t> </a:t>
            </a:r>
            <a:endParaRPr b="1" sz="2000"/>
          </a:p>
          <a:p>
            <a:pPr indent="0" lvl="0" marL="0" rtl="0" algn="l">
              <a:lnSpc>
                <a:spcPct val="150000"/>
              </a:lnSpc>
              <a:spcBef>
                <a:spcPts val="0"/>
              </a:spcBef>
              <a:spcAft>
                <a:spcPts val="0"/>
              </a:spcAft>
              <a:buNone/>
            </a:pPr>
            <a:r>
              <a:rPr b="1" lang="en" sz="2000">
                <a:solidFill>
                  <a:srgbClr val="00FFFF"/>
                </a:solidFill>
              </a:rPr>
              <a:t>Player Controller</a:t>
            </a:r>
            <a:r>
              <a:rPr b="1" lang="en" sz="2000"/>
              <a:t>: State</a:t>
            </a:r>
            <a:endParaRPr b="1" sz="2000"/>
          </a:p>
          <a:p>
            <a:pPr indent="457200" lvl="0" marL="0" rtl="0" algn="l">
              <a:lnSpc>
                <a:spcPct val="150000"/>
              </a:lnSpc>
              <a:spcBef>
                <a:spcPts val="0"/>
              </a:spcBef>
              <a:spcAft>
                <a:spcPts val="0"/>
              </a:spcAft>
              <a:buNone/>
            </a:pPr>
            <a:r>
              <a:rPr lang="en" sz="1647"/>
              <a:t>Allows for easily changing between different movements.</a:t>
            </a:r>
            <a:endParaRPr b="1" sz="2000"/>
          </a:p>
          <a:p>
            <a:pPr indent="0" lvl="0" marL="0" rtl="0" algn="l">
              <a:lnSpc>
                <a:spcPct val="150000"/>
              </a:lnSpc>
              <a:spcBef>
                <a:spcPts val="0"/>
              </a:spcBef>
              <a:spcAft>
                <a:spcPts val="0"/>
              </a:spcAft>
              <a:buNone/>
            </a:pPr>
            <a:r>
              <a:rPr b="1" lang="en" sz="2000">
                <a:solidFill>
                  <a:srgbClr val="00FFFF"/>
                </a:solidFill>
              </a:rPr>
              <a:t>Level Manager</a:t>
            </a:r>
            <a:r>
              <a:rPr b="1" lang="en" sz="2000"/>
              <a:t>: Factory</a:t>
            </a:r>
            <a:endParaRPr b="1" sz="2000"/>
          </a:p>
          <a:p>
            <a:pPr indent="0" lvl="0" marL="0" rtl="0" algn="l">
              <a:lnSpc>
                <a:spcPct val="150000"/>
              </a:lnSpc>
              <a:spcBef>
                <a:spcPts val="0"/>
              </a:spcBef>
              <a:spcAft>
                <a:spcPts val="0"/>
              </a:spcAft>
              <a:buNone/>
            </a:pPr>
            <a:r>
              <a:rPr b="1" lang="en" sz="2000"/>
              <a:t>	</a:t>
            </a:r>
            <a:r>
              <a:rPr lang="en" sz="1647"/>
              <a:t>Allows for “Spawn Points” that can call EnemyFactory.Create(“BCinator”)</a:t>
            </a:r>
            <a:endParaRPr b="1" sz="2000"/>
          </a:p>
          <a:p>
            <a:pPr indent="0" lvl="0" marL="0" rtl="0" algn="l">
              <a:lnSpc>
                <a:spcPct val="150000"/>
              </a:lnSpc>
              <a:spcBef>
                <a:spcPts val="0"/>
              </a:spcBef>
              <a:spcAft>
                <a:spcPts val="0"/>
              </a:spcAft>
              <a:buNone/>
            </a:pPr>
            <a:r>
              <a:rPr b="1" lang="en" sz="2000">
                <a:solidFill>
                  <a:srgbClr val="00FFFF"/>
                </a:solidFill>
              </a:rPr>
              <a:t>Enemy AI</a:t>
            </a:r>
            <a:r>
              <a:rPr b="1" lang="en" sz="2000"/>
              <a:t>: Strategy</a:t>
            </a:r>
            <a:endParaRPr b="1" sz="2000"/>
          </a:p>
          <a:p>
            <a:pPr indent="457200" lvl="0" marL="0" rtl="0" algn="l">
              <a:lnSpc>
                <a:spcPct val="150000"/>
              </a:lnSpc>
              <a:spcBef>
                <a:spcPts val="0"/>
              </a:spcBef>
              <a:spcAft>
                <a:spcPts val="0"/>
              </a:spcAft>
              <a:buNone/>
            </a:pPr>
            <a:r>
              <a:rPr lang="en" sz="1647"/>
              <a:t>Allows for the detection methods for different enemies to take different forms (Termal vs. Standard Vision )</a:t>
            </a:r>
            <a:endParaRPr b="1" sz="2000"/>
          </a:p>
          <a:p>
            <a:pPr indent="0" lvl="0" marL="0" rtl="0" algn="l">
              <a:lnSpc>
                <a:spcPct val="150000"/>
              </a:lnSpc>
              <a:spcBef>
                <a:spcPts val="0"/>
              </a:spcBef>
              <a:spcAft>
                <a:spcPts val="0"/>
              </a:spcAft>
              <a:buNone/>
            </a:pPr>
            <a:r>
              <a:rPr b="1" lang="en" sz="2000">
                <a:solidFill>
                  <a:srgbClr val="00FFFF"/>
                </a:solidFill>
              </a:rPr>
              <a:t>Boss Fight</a:t>
            </a:r>
            <a:r>
              <a:rPr b="1" lang="en" sz="2000"/>
              <a:t>: Command</a:t>
            </a:r>
            <a:endParaRPr b="1" sz="2000"/>
          </a:p>
          <a:p>
            <a:pPr indent="0" lvl="0" marL="0" rtl="0" algn="l">
              <a:lnSpc>
                <a:spcPct val="150000"/>
              </a:lnSpc>
              <a:spcBef>
                <a:spcPts val="0"/>
              </a:spcBef>
              <a:spcAft>
                <a:spcPts val="0"/>
              </a:spcAft>
              <a:buNone/>
            </a:pPr>
            <a:r>
              <a:rPr b="1" lang="en" sz="2000"/>
              <a:t>	</a:t>
            </a:r>
            <a:r>
              <a:rPr lang="en" sz="1647"/>
              <a:t>Allows for the abstraction of attacks so we can add and modify new ones easily.</a:t>
            </a:r>
            <a:endParaRPr b="1" sz="2000"/>
          </a:p>
        </p:txBody>
      </p:sp>
      <p:sp>
        <p:nvSpPr>
          <p:cNvPr id="399" name="Google Shape;399;p49"/>
          <p:cNvSpPr txBox="1"/>
          <p:nvPr>
            <p:ph type="title"/>
          </p:nvPr>
        </p:nvSpPr>
        <p:spPr>
          <a:xfrm>
            <a:off x="346925" y="4575650"/>
            <a:ext cx="8598000" cy="362700"/>
          </a:xfrm>
          <a:prstGeom prst="rect">
            <a:avLst/>
          </a:prstGeom>
        </p:spPr>
        <p:txBody>
          <a:bodyPr anchorCtr="0" anchor="t" bIns="91425" lIns="91425" spcFirstLastPara="1" rIns="91425" wrap="square" tIns="91425">
            <a:normAutofit fontScale="90000"/>
          </a:bodyPr>
          <a:lstStyle/>
          <a:p>
            <a:pPr indent="0" lvl="0" marL="0" rtl="0" algn="r">
              <a:spcBef>
                <a:spcPts val="0"/>
              </a:spcBef>
              <a:spcAft>
                <a:spcPts val="0"/>
              </a:spcAft>
              <a:buNone/>
            </a:pPr>
            <a:r>
              <a:rPr lang="en" sz="1400"/>
              <a:t>Presenter: </a:t>
            </a:r>
            <a:r>
              <a:rPr b="1" lang="en" sz="1400"/>
              <a:t>Brandon Lunney</a:t>
            </a:r>
            <a:endParaRPr b="1" sz="14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5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State Pattern in ET’s Pizzeria</a:t>
            </a:r>
            <a:endParaRPr/>
          </a:p>
        </p:txBody>
      </p:sp>
      <p:sp>
        <p:nvSpPr>
          <p:cNvPr id="405" name="Google Shape;405;p50"/>
          <p:cNvSpPr txBox="1"/>
          <p:nvPr>
            <p:ph idx="1" type="body"/>
          </p:nvPr>
        </p:nvSpPr>
        <p:spPr>
          <a:xfrm>
            <a:off x="120925" y="1416500"/>
            <a:ext cx="7038900" cy="35217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sz="1100">
                <a:latin typeface="Arial"/>
                <a:ea typeface="Arial"/>
                <a:cs typeface="Arial"/>
                <a:sym typeface="Arial"/>
              </a:rPr>
              <a:t>Changes object behavior based on its current state without modifying anything within the main class.</a:t>
            </a:r>
            <a:endParaRPr sz="1100">
              <a:latin typeface="Arial"/>
              <a:ea typeface="Arial"/>
              <a:cs typeface="Arial"/>
              <a:sym typeface="Arial"/>
            </a:endParaRPr>
          </a:p>
          <a:p>
            <a:pPr indent="0" lvl="0" marL="0" rtl="0" algn="l">
              <a:spcBef>
                <a:spcPts val="1200"/>
              </a:spcBef>
              <a:spcAft>
                <a:spcPts val="0"/>
              </a:spcAft>
              <a:buNone/>
            </a:pPr>
            <a:r>
              <a:rPr lang="en" sz="1100">
                <a:latin typeface="Arial"/>
                <a:ea typeface="Arial"/>
                <a:cs typeface="Arial"/>
                <a:sym typeface="Arial"/>
              </a:rPr>
              <a:t>Separates baking logic into different pizza states instead of a large conditional statement</a:t>
            </a:r>
            <a:endParaRPr sz="1100">
              <a:latin typeface="Arial"/>
              <a:ea typeface="Arial"/>
              <a:cs typeface="Arial"/>
              <a:sym typeface="Arial"/>
            </a:endParaRPr>
          </a:p>
          <a:p>
            <a:pPr indent="0" lvl="0" marL="0" rtl="0" algn="l">
              <a:spcBef>
                <a:spcPts val="1200"/>
              </a:spcBef>
              <a:spcAft>
                <a:spcPts val="0"/>
              </a:spcAft>
              <a:buNone/>
            </a:pPr>
            <a:r>
              <a:rPr lang="en" sz="1100">
                <a:latin typeface="Arial"/>
                <a:ea typeface="Arial"/>
                <a:cs typeface="Arial"/>
                <a:sym typeface="Arial"/>
              </a:rPr>
              <a:t>States include:</a:t>
            </a:r>
            <a:endParaRPr sz="1100">
              <a:latin typeface="Arial"/>
              <a:ea typeface="Arial"/>
              <a:cs typeface="Arial"/>
              <a:sym typeface="Arial"/>
            </a:endParaRPr>
          </a:p>
          <a:p>
            <a:pPr indent="-298450" lvl="0" marL="457200" rtl="0" algn="l">
              <a:spcBef>
                <a:spcPts val="1200"/>
              </a:spcBef>
              <a:spcAft>
                <a:spcPts val="0"/>
              </a:spcAft>
              <a:buSzPts val="1100"/>
              <a:buFont typeface="Arial"/>
              <a:buChar char="●"/>
            </a:pPr>
            <a:r>
              <a:rPr lang="en" sz="1100">
                <a:latin typeface="Arial"/>
                <a:ea typeface="Arial"/>
                <a:cs typeface="Arial"/>
                <a:sym typeface="Arial"/>
              </a:rPr>
              <a:t>Raw</a:t>
            </a: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lang="en" sz="1100">
                <a:latin typeface="Arial"/>
                <a:ea typeface="Arial"/>
                <a:cs typeface="Arial"/>
                <a:sym typeface="Arial"/>
              </a:rPr>
              <a:t>Baking</a:t>
            </a: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lang="en" sz="1100">
                <a:latin typeface="Arial"/>
                <a:ea typeface="Arial"/>
                <a:cs typeface="Arial"/>
                <a:sym typeface="Arial"/>
              </a:rPr>
              <a:t>Perfect</a:t>
            </a: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lang="en" sz="1100">
                <a:latin typeface="Arial"/>
                <a:ea typeface="Arial"/>
                <a:cs typeface="Arial"/>
                <a:sym typeface="Arial"/>
              </a:rPr>
              <a:t>Burnt</a:t>
            </a:r>
            <a:endParaRPr sz="1100">
              <a:latin typeface="Arial"/>
              <a:ea typeface="Arial"/>
              <a:cs typeface="Arial"/>
              <a:sym typeface="Arial"/>
            </a:endParaRPr>
          </a:p>
          <a:p>
            <a:pPr indent="0" lvl="0" marL="0" rtl="0" algn="l">
              <a:spcBef>
                <a:spcPts val="1200"/>
              </a:spcBef>
              <a:spcAft>
                <a:spcPts val="0"/>
              </a:spcAft>
              <a:buNone/>
            </a:pPr>
            <a:r>
              <a:rPr lang="en" sz="1100">
                <a:latin typeface="Arial"/>
                <a:ea typeface="Arial"/>
                <a:cs typeface="Arial"/>
                <a:sym typeface="Arial"/>
              </a:rPr>
              <a:t>This is invoked by PizzaState state = new RawState();</a:t>
            </a:r>
            <a:endParaRPr sz="1100">
              <a:latin typeface="Arial"/>
              <a:ea typeface="Arial"/>
              <a:cs typeface="Arial"/>
              <a:sym typeface="Arial"/>
            </a:endParaRPr>
          </a:p>
          <a:p>
            <a:pPr indent="0" lvl="0" marL="0" rtl="0" algn="l">
              <a:spcBef>
                <a:spcPts val="1200"/>
              </a:spcBef>
              <a:spcAft>
                <a:spcPts val="0"/>
              </a:spcAft>
              <a:buNone/>
            </a:pPr>
            <a:r>
              <a:rPr lang="en" sz="1100">
                <a:latin typeface="Arial"/>
                <a:ea typeface="Arial"/>
                <a:cs typeface="Arial"/>
                <a:sym typeface="Arial"/>
              </a:rPr>
              <a:t>state.UpdateState(pizza);</a:t>
            </a:r>
            <a:endParaRPr sz="1100">
              <a:latin typeface="Arial"/>
              <a:ea typeface="Arial"/>
              <a:cs typeface="Arial"/>
              <a:sym typeface="Arial"/>
            </a:endParaRPr>
          </a:p>
          <a:p>
            <a:pPr indent="0" lvl="0" marL="0" rtl="0" algn="l">
              <a:spcBef>
                <a:spcPts val="1200"/>
              </a:spcBef>
              <a:spcAft>
                <a:spcPts val="0"/>
              </a:spcAft>
              <a:buNone/>
            </a:pPr>
            <a:r>
              <a:rPr lang="en" sz="1100">
                <a:latin typeface="Arial"/>
                <a:ea typeface="Arial"/>
                <a:cs typeface="Arial"/>
                <a:sym typeface="Arial"/>
              </a:rPr>
              <a:t>Without the state pattern the baking </a:t>
            </a:r>
            <a:r>
              <a:rPr lang="en" sz="1100">
                <a:latin typeface="Arial"/>
                <a:ea typeface="Arial"/>
                <a:cs typeface="Arial"/>
                <a:sym typeface="Arial"/>
              </a:rPr>
              <a:t>logic</a:t>
            </a:r>
            <a:r>
              <a:rPr lang="en" sz="1100">
                <a:latin typeface="Arial"/>
                <a:ea typeface="Arial"/>
                <a:cs typeface="Arial"/>
                <a:sym typeface="Arial"/>
              </a:rPr>
              <a:t> would become an extremely large chain of if/else</a:t>
            </a:r>
            <a:endParaRPr sz="1100">
              <a:latin typeface="Arial"/>
              <a:ea typeface="Arial"/>
              <a:cs typeface="Arial"/>
              <a:sym typeface="Arial"/>
            </a:endParaRPr>
          </a:p>
          <a:p>
            <a:pPr indent="0" lvl="0" marL="0" rtl="0" algn="l">
              <a:spcBef>
                <a:spcPts val="1200"/>
              </a:spcBef>
              <a:spcAft>
                <a:spcPts val="1200"/>
              </a:spcAft>
              <a:buNone/>
            </a:pPr>
            <a:r>
              <a:rPr lang="en" sz="1100">
                <a:latin typeface="Arial"/>
                <a:ea typeface="Arial"/>
                <a:cs typeface="Arial"/>
                <a:sym typeface="Arial"/>
              </a:rPr>
              <a:t>s</a:t>
            </a:r>
            <a:r>
              <a:rPr lang="en" sz="1100">
                <a:latin typeface="Arial"/>
                <a:ea typeface="Arial"/>
                <a:cs typeface="Arial"/>
                <a:sym typeface="Arial"/>
              </a:rPr>
              <a:t>tatements that check cook time and pizza condition.</a:t>
            </a:r>
            <a:endParaRPr sz="1100">
              <a:latin typeface="Arial"/>
              <a:ea typeface="Arial"/>
              <a:cs typeface="Arial"/>
              <a:sym typeface="Arial"/>
            </a:endParaRPr>
          </a:p>
        </p:txBody>
      </p:sp>
      <p:sp>
        <p:nvSpPr>
          <p:cNvPr id="406" name="Google Shape;406;p50"/>
          <p:cNvSpPr txBox="1"/>
          <p:nvPr>
            <p:ph type="title"/>
          </p:nvPr>
        </p:nvSpPr>
        <p:spPr>
          <a:xfrm>
            <a:off x="346925" y="4575650"/>
            <a:ext cx="8598000" cy="362700"/>
          </a:xfrm>
          <a:prstGeom prst="rect">
            <a:avLst/>
          </a:prstGeom>
        </p:spPr>
        <p:txBody>
          <a:bodyPr anchorCtr="0" anchor="t" bIns="91425" lIns="91425" spcFirstLastPara="1" rIns="91425" wrap="square" tIns="91425">
            <a:normAutofit fontScale="90000"/>
          </a:bodyPr>
          <a:lstStyle/>
          <a:p>
            <a:pPr indent="0" lvl="0" marL="0" rtl="0" algn="r">
              <a:spcBef>
                <a:spcPts val="0"/>
              </a:spcBef>
              <a:spcAft>
                <a:spcPts val="0"/>
              </a:spcAft>
              <a:buNone/>
            </a:pPr>
            <a:r>
              <a:rPr lang="en" sz="1400"/>
              <a:t>Presenter: </a:t>
            </a:r>
            <a:r>
              <a:rPr b="1" lang="en" sz="1400"/>
              <a:t>Leo Nelson</a:t>
            </a:r>
            <a:endParaRPr b="1" sz="1400"/>
          </a:p>
        </p:txBody>
      </p:sp>
      <p:pic>
        <p:nvPicPr>
          <p:cNvPr id="407" name="Google Shape;407;p50"/>
          <p:cNvPicPr preferRelativeResize="0"/>
          <p:nvPr/>
        </p:nvPicPr>
        <p:blipFill>
          <a:blip r:embed="rId3">
            <a:alphaModFix/>
          </a:blip>
          <a:stretch>
            <a:fillRect/>
          </a:stretch>
        </p:blipFill>
        <p:spPr>
          <a:xfrm>
            <a:off x="6167394" y="1728600"/>
            <a:ext cx="2777530" cy="29112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51"/>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Observer Pattern in Toads With Guns</a:t>
            </a:r>
            <a:endParaRPr/>
          </a:p>
        </p:txBody>
      </p:sp>
      <p:sp>
        <p:nvSpPr>
          <p:cNvPr id="413" name="Google Shape;413;p51"/>
          <p:cNvSpPr txBox="1"/>
          <p:nvPr>
            <p:ph idx="1" type="body"/>
          </p:nvPr>
        </p:nvSpPr>
        <p:spPr>
          <a:xfrm>
            <a:off x="70300" y="1307850"/>
            <a:ext cx="4427100" cy="3711000"/>
          </a:xfrm>
          <a:prstGeom prst="rect">
            <a:avLst/>
          </a:prstGeom>
        </p:spPr>
        <p:txBody>
          <a:bodyPr anchorCtr="0" anchor="t" bIns="91425" lIns="91425" spcFirstLastPara="1" rIns="91425" wrap="square" tIns="91425">
            <a:noAutofit/>
          </a:bodyPr>
          <a:lstStyle/>
          <a:p>
            <a:pPr indent="0" lvl="0" marL="0" rtl="0" algn="l">
              <a:lnSpc>
                <a:spcPct val="100000"/>
              </a:lnSpc>
              <a:spcBef>
                <a:spcPts val="1200"/>
              </a:spcBef>
              <a:spcAft>
                <a:spcPts val="0"/>
              </a:spcAft>
              <a:buSzPts val="605"/>
              <a:buNone/>
            </a:pPr>
            <a:r>
              <a:rPr b="1" lang="en" sz="1005">
                <a:solidFill>
                  <a:srgbClr val="FFFFFF"/>
                </a:solidFill>
              </a:rPr>
              <a:t>Pattern: Observer</a:t>
            </a:r>
            <a:endParaRPr b="1" sz="1005">
              <a:solidFill>
                <a:srgbClr val="FFFFFF"/>
              </a:solidFill>
            </a:endParaRPr>
          </a:p>
          <a:p>
            <a:pPr indent="0" lvl="0" marL="0" rtl="0" algn="l">
              <a:lnSpc>
                <a:spcPct val="100000"/>
              </a:lnSpc>
              <a:spcBef>
                <a:spcPts val="1200"/>
              </a:spcBef>
              <a:spcAft>
                <a:spcPts val="0"/>
              </a:spcAft>
              <a:buSzPts val="605"/>
              <a:buNone/>
            </a:pPr>
            <a:r>
              <a:rPr lang="en" sz="1005">
                <a:solidFill>
                  <a:srgbClr val="FFFFFF"/>
                </a:solidFill>
              </a:rPr>
              <a:t>Rules are decoupled listeners; nothing in the codebase needs to directly call a rule, it simply reacts to events broadcast by the GameSessionManager.</a:t>
            </a:r>
            <a:endParaRPr sz="1005">
              <a:solidFill>
                <a:srgbClr val="FFFFFF"/>
              </a:solidFill>
            </a:endParaRPr>
          </a:p>
          <a:p>
            <a:pPr indent="0" lvl="0" marL="0" rtl="0" algn="l">
              <a:lnSpc>
                <a:spcPct val="100000"/>
              </a:lnSpc>
              <a:spcBef>
                <a:spcPts val="1200"/>
              </a:spcBef>
              <a:spcAft>
                <a:spcPts val="0"/>
              </a:spcAft>
              <a:buSzPts val="605"/>
              <a:buNone/>
            </a:pPr>
            <a:r>
              <a:rPr b="1" lang="en" sz="1005">
                <a:solidFill>
                  <a:srgbClr val="FFFFFF"/>
                </a:solidFill>
              </a:rPr>
              <a:t>Why it fits</a:t>
            </a:r>
            <a:endParaRPr b="1" sz="1005">
              <a:solidFill>
                <a:srgbClr val="FFFFFF"/>
              </a:solidFill>
            </a:endParaRPr>
          </a:p>
          <a:p>
            <a:pPr indent="-292417" lvl="0" marL="457200" rtl="0" algn="l">
              <a:lnSpc>
                <a:spcPct val="100000"/>
              </a:lnSpc>
              <a:spcBef>
                <a:spcPts val="1200"/>
              </a:spcBef>
              <a:spcAft>
                <a:spcPts val="0"/>
              </a:spcAft>
              <a:buClr>
                <a:srgbClr val="FFFFFF"/>
              </a:buClr>
              <a:buSzPts val="1005"/>
              <a:buFont typeface="Lato"/>
              <a:buChar char="●"/>
            </a:pPr>
            <a:r>
              <a:rPr lang="en" sz="1005">
                <a:solidFill>
                  <a:srgbClr val="FFFFFF"/>
                </a:solidFill>
              </a:rPr>
              <a:t>Tower defense games have many independent systems (lives, scoring, wave progression) that all respond to the same game events</a:t>
            </a:r>
            <a:endParaRPr sz="1005">
              <a:solidFill>
                <a:srgbClr val="FFFFFF"/>
              </a:solidFill>
            </a:endParaRPr>
          </a:p>
          <a:p>
            <a:pPr indent="-292417" lvl="0" marL="457200" rtl="0" algn="l">
              <a:lnSpc>
                <a:spcPct val="100000"/>
              </a:lnSpc>
              <a:spcBef>
                <a:spcPts val="0"/>
              </a:spcBef>
              <a:spcAft>
                <a:spcPts val="0"/>
              </a:spcAft>
              <a:buClr>
                <a:srgbClr val="FFFFFF"/>
              </a:buClr>
              <a:buSzPts val="1005"/>
              <a:buFont typeface="Lato"/>
              <a:buChar char="●"/>
            </a:pPr>
            <a:r>
              <a:rPr lang="en" sz="1005">
                <a:solidFill>
                  <a:srgbClr val="FFFFFF"/>
                </a:solidFill>
              </a:rPr>
              <a:t>Adding or removing a rule requires zero changes to existing code</a:t>
            </a:r>
            <a:endParaRPr sz="1005">
              <a:solidFill>
                <a:srgbClr val="FFFFFF"/>
              </a:solidFill>
            </a:endParaRPr>
          </a:p>
          <a:p>
            <a:pPr indent="-292417" lvl="0" marL="457200" rtl="0" algn="l">
              <a:lnSpc>
                <a:spcPct val="100000"/>
              </a:lnSpc>
              <a:spcBef>
                <a:spcPts val="0"/>
              </a:spcBef>
              <a:spcAft>
                <a:spcPts val="0"/>
              </a:spcAft>
              <a:buClr>
                <a:srgbClr val="FFFFFF"/>
              </a:buClr>
              <a:buSzPts val="1005"/>
              <a:buFont typeface="Lato"/>
              <a:buChar char="●"/>
            </a:pPr>
            <a:r>
              <a:rPr lang="en" sz="1005">
                <a:solidFill>
                  <a:srgbClr val="FFFFFF"/>
                </a:solidFill>
              </a:rPr>
              <a:t>Rules can be toggled at runtime without structural changes</a:t>
            </a:r>
            <a:endParaRPr sz="1005">
              <a:solidFill>
                <a:srgbClr val="FFFFFF"/>
              </a:solidFill>
            </a:endParaRPr>
          </a:p>
          <a:p>
            <a:pPr indent="0" lvl="0" marL="0" rtl="0" algn="l">
              <a:lnSpc>
                <a:spcPct val="100000"/>
              </a:lnSpc>
              <a:spcBef>
                <a:spcPts val="1200"/>
              </a:spcBef>
              <a:spcAft>
                <a:spcPts val="0"/>
              </a:spcAft>
              <a:buSzPts val="605"/>
              <a:buNone/>
            </a:pPr>
            <a:r>
              <a:rPr b="1" lang="en" sz="1005">
                <a:solidFill>
                  <a:srgbClr val="FFFFFF"/>
                </a:solidFill>
              </a:rPr>
              <a:t>What we needed to implement it</a:t>
            </a:r>
            <a:endParaRPr b="1" sz="1005">
              <a:solidFill>
                <a:srgbClr val="FFFFFF"/>
              </a:solidFill>
            </a:endParaRPr>
          </a:p>
          <a:p>
            <a:pPr indent="-292417" lvl="0" marL="457200" rtl="0" algn="l">
              <a:lnSpc>
                <a:spcPct val="100000"/>
              </a:lnSpc>
              <a:spcBef>
                <a:spcPts val="1200"/>
              </a:spcBef>
              <a:spcAft>
                <a:spcPts val="0"/>
              </a:spcAft>
              <a:buClr>
                <a:srgbClr val="FFFFFF"/>
              </a:buClr>
              <a:buSzPts val="1005"/>
              <a:buFont typeface="Arial"/>
              <a:buChar char="●"/>
            </a:pPr>
            <a:r>
              <a:rPr lang="en" sz="1005">
                <a:solidFill>
                  <a:srgbClr val="FFFFFF"/>
                </a:solidFill>
              </a:rPr>
              <a:t>A static </a:t>
            </a:r>
            <a:r>
              <a:rPr lang="en" sz="1005">
                <a:solidFill>
                  <a:srgbClr val="FFFFFF"/>
                </a:solidFill>
              </a:rPr>
              <a:t>GameSessionManager </a:t>
            </a:r>
            <a:r>
              <a:rPr lang="en" sz="1005">
                <a:solidFill>
                  <a:srgbClr val="FFFFFF"/>
                </a:solidFill>
              </a:rPr>
              <a:t>that publishes all game events</a:t>
            </a:r>
            <a:endParaRPr sz="1005">
              <a:solidFill>
                <a:srgbClr val="FFFFFF"/>
              </a:solidFill>
            </a:endParaRPr>
          </a:p>
          <a:p>
            <a:pPr indent="-292417" lvl="0" marL="457200" rtl="0" algn="l">
              <a:lnSpc>
                <a:spcPct val="100000"/>
              </a:lnSpc>
              <a:spcBef>
                <a:spcPts val="0"/>
              </a:spcBef>
              <a:spcAft>
                <a:spcPts val="0"/>
              </a:spcAft>
              <a:buClr>
                <a:srgbClr val="FFFFFF"/>
              </a:buClr>
              <a:buSzPts val="1005"/>
              <a:buFont typeface="Arial"/>
              <a:buChar char="●"/>
            </a:pPr>
            <a:r>
              <a:rPr lang="en" sz="1005">
                <a:solidFill>
                  <a:srgbClr val="FFFFFF"/>
                </a:solidFill>
              </a:rPr>
              <a:t>An IGameRule interface enforcing Subscribe / Unsubscribe on every rule</a:t>
            </a:r>
            <a:endParaRPr sz="1005">
              <a:solidFill>
                <a:srgbClr val="FFFFFF"/>
              </a:solidFill>
            </a:endParaRPr>
          </a:p>
          <a:p>
            <a:pPr indent="-292417" lvl="0" marL="457200" rtl="0" algn="l">
              <a:lnSpc>
                <a:spcPct val="100000"/>
              </a:lnSpc>
              <a:spcBef>
                <a:spcPts val="0"/>
              </a:spcBef>
              <a:spcAft>
                <a:spcPts val="0"/>
              </a:spcAft>
              <a:buClr>
                <a:srgbClr val="FFFFFF"/>
              </a:buClr>
              <a:buSzPts val="1005"/>
              <a:buFont typeface="Arial"/>
              <a:buChar char="●"/>
            </a:pPr>
            <a:r>
              <a:rPr lang="en" sz="1005">
                <a:solidFill>
                  <a:srgbClr val="FFFFFF"/>
                </a:solidFill>
              </a:rPr>
              <a:t>A GameRuleManager to register rules and manage their lifecycle</a:t>
            </a:r>
            <a:endParaRPr sz="1005">
              <a:solidFill>
                <a:srgbClr val="FFFFFF"/>
              </a:solidFill>
            </a:endParaRPr>
          </a:p>
          <a:p>
            <a:pPr indent="-292417" lvl="0" marL="457200" rtl="0" algn="l">
              <a:lnSpc>
                <a:spcPct val="100000"/>
              </a:lnSpc>
              <a:spcBef>
                <a:spcPts val="0"/>
              </a:spcBef>
              <a:spcAft>
                <a:spcPts val="0"/>
              </a:spcAft>
              <a:buClr>
                <a:srgbClr val="FFFFFF"/>
              </a:buClr>
              <a:buSzPts val="1005"/>
              <a:buFont typeface="Lato"/>
              <a:buChar char="●"/>
            </a:pPr>
            <a:r>
              <a:rPr lang="en" sz="1005">
                <a:solidFill>
                  <a:srgbClr val="FFFFFF"/>
                </a:solidFill>
              </a:rPr>
              <a:t>Each rule subscribes only to the events it cares about and handles them in isolation</a:t>
            </a:r>
            <a:endParaRPr sz="1005">
              <a:solidFill>
                <a:srgbClr val="FFFFFF"/>
              </a:solidFill>
            </a:endParaRPr>
          </a:p>
        </p:txBody>
      </p:sp>
      <p:sp>
        <p:nvSpPr>
          <p:cNvPr id="414" name="Google Shape;414;p51"/>
          <p:cNvSpPr txBox="1"/>
          <p:nvPr>
            <p:ph type="title"/>
          </p:nvPr>
        </p:nvSpPr>
        <p:spPr>
          <a:xfrm>
            <a:off x="6465650" y="4575650"/>
            <a:ext cx="2479200" cy="362700"/>
          </a:xfrm>
          <a:prstGeom prst="rect">
            <a:avLst/>
          </a:prstGeom>
        </p:spPr>
        <p:txBody>
          <a:bodyPr anchorCtr="0" anchor="t" bIns="91425" lIns="91425" spcFirstLastPara="1" rIns="91425" wrap="square" tIns="91425">
            <a:normAutofit fontScale="90000"/>
          </a:bodyPr>
          <a:lstStyle/>
          <a:p>
            <a:pPr indent="0" lvl="0" marL="0" rtl="0" algn="r">
              <a:spcBef>
                <a:spcPts val="0"/>
              </a:spcBef>
              <a:spcAft>
                <a:spcPts val="0"/>
              </a:spcAft>
              <a:buNone/>
            </a:pPr>
            <a:r>
              <a:rPr lang="en" sz="1400"/>
              <a:t>Presenter: </a:t>
            </a:r>
            <a:r>
              <a:rPr b="1" lang="en" sz="1400"/>
              <a:t>Zach Current</a:t>
            </a:r>
            <a:endParaRPr b="1" sz="1400"/>
          </a:p>
        </p:txBody>
      </p:sp>
      <p:pic>
        <p:nvPicPr>
          <p:cNvPr id="415" name="Google Shape;415;p51"/>
          <p:cNvPicPr preferRelativeResize="0"/>
          <p:nvPr/>
        </p:nvPicPr>
        <p:blipFill>
          <a:blip r:embed="rId3">
            <a:alphaModFix/>
          </a:blip>
          <a:stretch>
            <a:fillRect/>
          </a:stretch>
        </p:blipFill>
        <p:spPr>
          <a:xfrm>
            <a:off x="4497400" y="933400"/>
            <a:ext cx="4560425" cy="356374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52"/>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How to Get in Touch</a:t>
            </a:r>
            <a:endParaRPr/>
          </a:p>
        </p:txBody>
      </p:sp>
      <p:sp>
        <p:nvSpPr>
          <p:cNvPr id="421" name="Google Shape;421;p52"/>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1200"/>
              </a:spcBef>
              <a:spcAft>
                <a:spcPts val="1200"/>
              </a:spcAft>
              <a:buNone/>
            </a:pPr>
            <a:r>
              <a:rPr lang="en"/>
              <a:t>If you are confused and need any help throughout the break, please make sure to send us a Discord message and we would be happy to help out!</a:t>
            </a:r>
            <a:endParaRPr/>
          </a:p>
        </p:txBody>
      </p:sp>
      <p:sp>
        <p:nvSpPr>
          <p:cNvPr id="422" name="Google Shape;422;p52"/>
          <p:cNvSpPr txBox="1"/>
          <p:nvPr>
            <p:ph type="title"/>
          </p:nvPr>
        </p:nvSpPr>
        <p:spPr>
          <a:xfrm>
            <a:off x="6465650" y="4575650"/>
            <a:ext cx="2479200" cy="362700"/>
          </a:xfrm>
          <a:prstGeom prst="rect">
            <a:avLst/>
          </a:prstGeom>
        </p:spPr>
        <p:txBody>
          <a:bodyPr anchorCtr="0" anchor="t" bIns="91425" lIns="91425" spcFirstLastPara="1" rIns="91425" wrap="square" tIns="91425">
            <a:normAutofit fontScale="90000"/>
          </a:bodyPr>
          <a:lstStyle/>
          <a:p>
            <a:pPr indent="0" lvl="0" marL="0" rtl="0" algn="r">
              <a:spcBef>
                <a:spcPts val="0"/>
              </a:spcBef>
              <a:spcAft>
                <a:spcPts val="0"/>
              </a:spcAft>
              <a:buNone/>
            </a:pPr>
            <a:r>
              <a:rPr lang="en" sz="1400"/>
              <a:t>Presenter: </a:t>
            </a:r>
            <a:r>
              <a:rPr b="1" lang="en" sz="1400"/>
              <a:t>Kade McRae</a:t>
            </a:r>
            <a:endParaRPr b="1" sz="14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